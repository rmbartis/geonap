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692640" y="914400"/>
            <a:ext cx="502920" cy="5029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195560" y="1417320"/>
            <a:ext cx="365760" cy="64008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561320" y="2057400"/>
            <a:ext cx="182880" cy="731520"/>
          </a:xfrm>
          <a:prstGeom prst="line">
            <a:avLst/>
          </a:prstGeom>
          <a:ln w="2794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646919" y="868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13716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201168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0" y="2743200"/>
            <a:ext cx="91440" cy="91440"/>
          </a:xfrm>
          <a:prstGeom prst="ellipse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12283" y="420623"/>
            <a:ext cx="2167127" cy="2167127"/>
          </a:xfrm>
          <a:prstGeom prst="roundRect">
            <a:avLst>
              <a:gd name="adj" fmla="val 22000"/>
            </a:avLst>
          </a:prstGeom>
          <a:solidFill>
            <a:srgbClr val="0F2836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87" y="566928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20">
                <a:solidFill>
                  <a:srgbClr val="F5C842"/>
                </a:solidFill>
                <a:latin typeface="Calibri"/>
              </a:rPr>
              <a:t>GEONAP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7286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Location-Based Alarms for Commuters and Travelers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34840"/>
            <a:ext cx="9265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B9C6CE"/>
                </a:solidFill>
                <a:latin typeface="Calibri"/>
              </a:rPr>
              <a:t>A complete feature overview for press, partners, and evaluators.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1367" y="53492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1367" y="5349240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5C842"/>
                </a:solidFill>
                <a:latin typeface="Calibri"/>
              </a:rPr>
              <a:t>Press &amp; Partner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GeoNap Wakes You Up Based on Where You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GeoNap sets alarms by location instead of time — the app notifies the user the moment they arrive at, or leave, any point on the map.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Designed for anyone who wants to rest, work, or relax during a trip without missing their stop: commuters, travelers, and road-trip passengers.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0">
                <a:solidFill>
                  <a:srgbClr val="17303F"/>
                </a:solidFill>
                <a:latin typeface="Calibri"/>
              </a:rPr>
              <a:t>Available in 13 languages, with alarms that work fully offline once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ll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Set It Once. GeoNap Takes It From There.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62456" y="3246120"/>
            <a:ext cx="4422495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6743" y="3246120"/>
            <a:ext cx="442249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0663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3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Pin Your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Drop a pin on any address, station, or transit stop — or search for it by name.</a:t>
            </a:r>
          </a:p>
        </p:txBody>
      </p:sp>
      <p:sp>
        <p:nvSpPr>
          <p:cNvPr id="10" name="Oval 9"/>
          <p:cNvSpPr/>
          <p:nvPr/>
        </p:nvSpPr>
        <p:spPr>
          <a:xfrm>
            <a:off x="5784951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4951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9987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Nap, Ride, Relax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9987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GeoNap quietly tracks location in the background — no need to keep the app open.</a:t>
            </a:r>
          </a:p>
        </p:txBody>
      </p:sp>
      <p:sp>
        <p:nvSpPr>
          <p:cNvPr id="14" name="Oval 13"/>
          <p:cNvSpPr/>
          <p:nvPr/>
        </p:nvSpPr>
        <p:spPr>
          <a:xfrm>
            <a:off x="10829239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29239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7055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Wake Up Right On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7055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A full-screen alarm fires the moment the user arrives or leaves — it cuts through silent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Works Independently of Station Displays and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 reliance on PA announcements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alerts are triggered by the rider's own phone location, not by what's audible onboard.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 reliance on departure boards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broken, outdated, or missing display has no effect on whether the alarm fires correctly.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 language barrier to the alert itself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GeoNap's own interface is available in 13 languages, independent of station signage.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n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Creating a Location Alarm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62456" y="3246120"/>
            <a:ext cx="274106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725314" y="3246120"/>
            <a:ext cx="274106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88172" y="3246120"/>
            <a:ext cx="2741067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40663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3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Name &amp;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Give the alarm a name and an optional note shown in the notification.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4103522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3522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8558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Pin the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8558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Search an address, tap the map, or enter exact GPS coordinates in DD, DMS, or DDM format.</a:t>
            </a:r>
          </a:p>
        </p:txBody>
      </p:sp>
      <p:sp>
        <p:nvSpPr>
          <p:cNvPr id="15" name="Oval 14"/>
          <p:cNvSpPr/>
          <p:nvPr/>
        </p:nvSpPr>
        <p:spPr>
          <a:xfrm>
            <a:off x="7466380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6380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416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Set the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416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Choose On Arrival or On Departure, then set the radius with a slider.</a:t>
            </a:r>
          </a:p>
        </p:txBody>
      </p:sp>
      <p:sp>
        <p:nvSpPr>
          <p:cNvPr id="19" name="Oval 18"/>
          <p:cNvSpPr/>
          <p:nvPr/>
        </p:nvSpPr>
        <p:spPr>
          <a:xfrm>
            <a:off x="10829239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9239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7055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7055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Optionally enable Auto-Notify, pick a sound, and save — up to 20 active alarms at 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TRIGGER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Distance or Time-to-Arrival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Distance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fires when the user crosses a set radius around the pin; best for a fixed boundary like a single station.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Time before arrival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fires a set number of minutes before arrival, computed from current travel speed; ideal for napping on a train or bus.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Adaptive fallback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in long tunnels, time-based triggers fall back to a nearby-distance trigger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u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Transit Alarms: Live Schedules, No Coordinates Needed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62456" y="3246120"/>
            <a:ext cx="274106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725314" y="3246120"/>
            <a:ext cx="2741066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88172" y="3246120"/>
            <a:ext cx="2741067" cy="0"/>
          </a:xfrm>
          <a:prstGeom prst="line">
            <a:avLst/>
          </a:prstGeom>
          <a:ln w="3302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40663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3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Agency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Choose a built-in worldwide agency (Amtrak, BART, MBTA, CTA, GO Transit, and more) or any public GTFS feed URL.</a:t>
            </a:r>
          </a:p>
        </p:txBody>
      </p:sp>
      <p:sp>
        <p:nvSpPr>
          <p:cNvPr id="11" name="Oval 10"/>
          <p:cNvSpPr/>
          <p:nvPr/>
        </p:nvSpPr>
        <p:spPr>
          <a:xfrm>
            <a:off x="4103522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3522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8558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8558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Browse or search routes; each shows its type — rail, subway, bus, ferry, and more.</a:t>
            </a:r>
          </a:p>
        </p:txBody>
      </p:sp>
      <p:sp>
        <p:nvSpPr>
          <p:cNvPr id="15" name="Oval 14"/>
          <p:cNvSpPr/>
          <p:nvPr/>
        </p:nvSpPr>
        <p:spPr>
          <a:xfrm>
            <a:off x="7466380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6380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416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416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All stops are listed sorted by distance from the user's current location.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10829239" y="2935224"/>
            <a:ext cx="621792" cy="621792"/>
          </a:xfrm>
          <a:prstGeom prst="ellipse">
            <a:avLst/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29239" y="293522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5C842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7055" y="3749039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A3A52"/>
                </a:solidFill>
                <a:latin typeface="Cambria"/>
              </a:rPr>
              <a:t>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7055" y="4233672"/>
            <a:ext cx="2331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C7182"/>
                </a:solidFill>
                <a:latin typeface="Calibri"/>
              </a:rPr>
              <a:t>Review agency, route, and stop, then set name, radius, direction, and sound.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Calendar Scanning: Trip Detection, Always Opt-In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Off by default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the user must explicitly enable it in Settings and grant calendar access.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User-selected calendars only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only the primary calendar is checked by default; Birthdays and Holiday calendars are excluded automatically.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Automatic or manual scans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scan periodically in the background, or only when the user taps Scan Now.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Always a choice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each suggested trip must be individually approved or declined before an alarm is created.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lendar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Auto-Notify: Keep Others Informed,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Location-triggered, not action-triggered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the message is prepared the moment the geofence event happens.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Covers the whole trip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works on both On Departure and On Arrival alarms, so contacts know when a traveler left as well as when they got there.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Pre-filled and ready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e.g. “[Arrival] I arrived at Grand Central at 9:14 AM” — just tap Send.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Hands-free option available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Shortcuts Personal Automation can send the message with no approval step, the next time GeoNap is opened.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Global contact defaults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 shared contact list pre-fills every new alarm with Auto-Notify enabled.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ssa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Siri &amp; Shortcuts: Hands-Free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“Create a GeoNap”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Siri asks for a name, location, and trigger direction, then saves the alarm.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“Enable / Disable my GeoNap”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re-activate or deactivate a saved alarm by voice.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“Notify my contacts via GeoNap”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returns the pre-filled Auto-Notify message for use in a Personal Automation.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 setup required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all shortcuts are available immediately and customizable in the iOS Shortcuts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c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Apple Home Automation: A Home That's Ready on Arrival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HomeKit-compatible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works with lights, thermostats, air conditioning, locks, blinds, fans, and any “Arrive Home” scene.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Runs automatically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set up once via a Shortcuts Personal Automation tied to the same location as a GeoNap alarm.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Alarm and automation together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linking a Run Shortcut action fires the audible alarm and the Home automation at the same moment.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SMART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On the Road: CarPlay and Alarm Sounds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CarPlay display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firing alarms appear on the car's screen; stop or snooze from the connected phone.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System sound options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Vibrate Only, Default, or Critical (bypasses silent mode and Do Not Disturb).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Bundled travel sounds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boat horn, cable car bell, steam train, sailboat bell, airplane landing, and airport chime.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Set Up Once, Fits How Each User Travels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ug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Units &amp; 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Metric or imperial distance, and 12- or 24-hour time — set independently of the device's system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_F5C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Coordinate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Enter and view GPS coordinates as DD, DMS, or DDM — whichever a user is used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lobe_F5C8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4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13 Languages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English, Spanish, French, German, Italian, Portuguese, Arabic, Hindi, Japanese, Simplified Chinese, Russian, Thai, Vietnamese.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ople_F5C8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4"/>
            <a:ext cx="342351" cy="342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76007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Auto-Notify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 shared contact list that pre-fills automatically across every new alarm.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Every Alarm's Status, Visible Instantly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9167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48472"/>
              </a:tblGrid>
              <a:tr h="693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Indicator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Status dot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Green = active  ·  Red = fired  ·  Orange = snoozed  ·  Gray = disabled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Transit badge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Shows the route type — train, subway, bus, ferry, and more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Repeat badge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Alarm resets automatically after each trip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Auto-Notify badge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Contacts will be messaged automatically when this alarm fires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Schedule badges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Alarm is limited to a time window and/or specific days of the week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7182"/>
                </a:solidFill>
                <a:latin typeface="Calibri"/>
              </a:rPr>
              <a:t>Swipe right to enable/disable an alarm instantly; swipe left to delete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in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Train &amp; Subway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Commuters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TYPICAL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The Daily Transit Commute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A commuter sets an alarm at their station once. Each morning, GeoNap wakes them just before arrival — automatically, with the alarm resetting itself for the next trip.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Repeating alarms plus a distance or time-based trigger make this a “set once” experience.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MORE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Built for Every Kind of Trip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s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8" y="2777764"/>
            <a:ext cx="342351" cy="342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19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Bus Riders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 departure alarm fires the moment the user leaves their stop's area — a reliable reminder to head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874519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3047" y="261975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_F5C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055" y="2777764"/>
            <a:ext cx="342351" cy="3423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76007" y="207568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Arriving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44144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Arrival triggers a HomeKit automation at the same time as the alarm — lights, heat, and comfort, ready on arrival.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r_F5C8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5246644"/>
            <a:ext cx="342351" cy="342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19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Road-Trip Passengers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 waypoint alarm removes the need to watch the map for the whole drive.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4343400"/>
            <a:ext cx="5364327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5088636"/>
            <a:ext cx="658368" cy="658368"/>
          </a:xfrm>
          <a:prstGeom prst="ellipse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ane_F5C8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055" y="5246644"/>
            <a:ext cx="342351" cy="3423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76007" y="4544568"/>
            <a:ext cx="4038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A3A52"/>
                </a:solidFill>
                <a:latin typeface="Cambria"/>
              </a:rPr>
              <a:t>Travelers Abroad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4910328"/>
            <a:ext cx="4038447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Alarms at a hotel, airport, or meeting location work in any of 13 supported languages.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pp_icon_roun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5120640"/>
            <a:ext cx="502920" cy="50292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14400" y="5623560"/>
            <a:ext cx="228600" cy="548640"/>
          </a:xfrm>
          <a:prstGeom prst="line">
            <a:avLst/>
          </a:prstGeom>
          <a:ln w="25400">
            <a:solidFill>
              <a:srgbClr val="C89E28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188720" y="1463039"/>
            <a:ext cx="1737360" cy="173736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ople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86" y="1880006"/>
            <a:ext cx="903427" cy="903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180">
                <a:solidFill>
                  <a:srgbClr val="F5C842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Family &amp;</a:t>
            </a:r>
          </a:p>
          <a:p>
            <a:pPr algn="ctr">
              <a:lnSpc>
                <a:spcPct val="108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Friends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594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TYPICAL 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96112"/>
            <a:ext cx="68424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3A52"/>
                </a:solidFill>
                <a:latin typeface="Cambria"/>
              </a:rPr>
              <a:t>Know They're On Their Way — and Home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965960"/>
            <a:ext cx="67510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7303F"/>
                </a:solidFill>
                <a:latin typeface="Calibri"/>
              </a:rPr>
              <a:t>Auto-Notify isn't limited to the traveler — enabling it on any alarm sends a message to saved contacts the moment the trip starts and the moment it ends, so the people waiting don't have to 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5074920"/>
            <a:ext cx="6339535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5239512"/>
            <a:ext cx="5790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C7182"/>
                </a:solidFill>
                <a:latin typeface="Calibri"/>
              </a:rPr>
              <a:t>Works on both On Departure and On Arrival triggers, and pairs with the same hands-free automation used for solo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F5C842"/>
                </a:solidFill>
                <a:latin typeface="Calibri"/>
              </a:rPr>
              <a:t>PRIVACY &amp; DATA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96112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On-Device by Design</a:t>
            </a:r>
          </a:p>
        </p:txBody>
      </p:sp>
      <p:sp>
        <p:nvSpPr>
          <p:cNvPr id="4" name="Oval 3"/>
          <p:cNvSpPr/>
          <p:nvPr/>
        </p:nvSpPr>
        <p:spPr>
          <a:xfrm>
            <a:off x="1097279" y="2468879"/>
            <a:ext cx="1554480" cy="155448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eld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55" y="2841955"/>
            <a:ext cx="808329" cy="808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2331720"/>
            <a:ext cx="8442655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Calendar data is read entirely on the device and is never uploaded or shared.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4160520"/>
            <a:ext cx="844265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Calendar Scanning is off by default and requires explicit opt-in and calendar access.</a:t>
            </a:r>
          </a:p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Location Services can be set to Always so alarms fire in the background; full disclosure is available in-app.</a:t>
            </a:r>
          </a:p>
          <a:p>
            <a:pPr algn="l" indent="-182880" marL="182880">
              <a:lnSpc>
                <a:spcPct val="120000"/>
              </a:lnSpc>
              <a:spcAft>
                <a:spcPts val="800"/>
              </a:spcAft>
              <a:buClr>
                <a:srgbClr val="F5C842"/>
              </a:buClr>
              <a:buFont typeface="Arial"/>
              <a:buChar char="•"/>
            </a:pPr>
            <a:r>
              <a:rPr sz="1350" b="0">
                <a:solidFill>
                  <a:srgbClr val="B9C6CE"/>
                </a:solidFill>
                <a:latin typeface="Calibri"/>
              </a:rPr>
              <a:t>An opt-in debug log captures permission status, region and alarm events, and errors — nothing is sent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Where GeoNap Runs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1109167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65592"/>
              </a:tblGrid>
              <a:tr h="8321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Device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anchor="ctr" marL="109728" marT="54864" marB="54864">
                    <a:solidFill>
                      <a:srgbClr val="1A3A52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iPhone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iOS 26.0 or later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iPadOS 26.0 or later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Apple Watch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watchOS 26.0 or later (companion features)</a:t>
                      </a:r>
                    </a:p>
                  </a:txBody>
                  <a:tcPr anchor="ctr" marL="109728" marT="45720" marB="45720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Connectivity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7303F"/>
                          </a:solidFill>
                          <a:latin typeface="Calibri"/>
                        </a:defRPr>
                      </a:pPr>
                      <a:r>
                        <a:t>Offline for standard alarms; internet needed only for transit feed downloads</a:t>
                      </a:r>
                    </a:p>
                  </a:txBody>
                  <a:tcPr anchor="ctr" marL="109728" marT="45720" marB="45720"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99631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7182"/>
                </a:solidFill>
                <a:latin typeface="Calibri"/>
              </a:rPr>
              <a:t>Location Services must be set to Always so alarms can fire in the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60">
                <a:solidFill>
                  <a:srgbClr val="C89E28"/>
                </a:solidFill>
                <a:latin typeface="Calibri"/>
              </a:rPr>
              <a:t>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9997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1A3A52"/>
                </a:solidFill>
                <a:latin typeface="Cambria"/>
              </a:rPr>
              <a:t>Built-In Diagnostics for Fast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6720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Opt-in debug log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enabled in Settings, with a clear description of what's recorded before it starts.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What's captured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device model, iOS version, location permission status, region and alarm events, transit feed downloads, and errors.</a:t>
            </a:r>
          </a:p>
          <a:p>
            <a:pPr algn="l" indent="-182880" marL="182880">
              <a:lnSpc>
                <a:spcPct val="118000"/>
              </a:lnSpc>
              <a:spcAft>
                <a:spcPts val="1400"/>
              </a:spcAft>
              <a:buClr>
                <a:srgbClr val="E8282B"/>
              </a:buClr>
              <a:buFont typeface="Arial"/>
              <a:buChar char="•"/>
            </a:pPr>
            <a:r>
              <a:rPr sz="1550" b="1">
                <a:solidFill>
                  <a:srgbClr val="17303F"/>
                </a:solidFill>
                <a:latin typeface="Calibri"/>
              </a:rPr>
              <a:t>Nothing automatic — </a:t>
            </a:r>
            <a:r>
              <a:rPr sz="1550" b="0">
                <a:solidFill>
                  <a:srgbClr val="17303F"/>
                </a:solidFill>
                <a:latin typeface="Calibri"/>
              </a:rPr>
              <a:t>the log file stays on-device until the user chooses to share it, e.g. via the Files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566160" cy="4709160"/>
          </a:xfrm>
          <a:prstGeom prst="roundRect">
            <a:avLst>
              <a:gd name="adj" fmla="val 6000"/>
            </a:avLst>
          </a:prstGeom>
          <a:solidFill>
            <a:srgbClr val="1A3A52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92540" y="2080260"/>
            <a:ext cx="1417320" cy="1417320"/>
          </a:xfrm>
          <a:prstGeom prst="ellipse">
            <a:avLst/>
          </a:prstGeom>
          <a:solidFill>
            <a:srgbClr val="0F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ument_F5C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696" y="2420416"/>
            <a:ext cx="737006" cy="737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323015" y="6025896"/>
            <a:ext cx="603504" cy="60350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F283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pp_icon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07161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7182"/>
                </a:solidFill>
                <a:latin typeface="Calibri"/>
              </a:rPr>
              <a:t>GeoNap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_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047" y="68580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514600"/>
            <a:ext cx="99971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Learn More About GeoNap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429000"/>
            <a:ext cx="8899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50" b="0" i="0">
                <a:solidFill>
                  <a:srgbClr val="B9C6CE"/>
                </a:solidFill>
                <a:latin typeface="Calibri"/>
              </a:rPr>
              <a:t>A complete reference for coverage, partnership, or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8487" y="4434840"/>
            <a:ext cx="3474720" cy="566928"/>
          </a:xfrm>
          <a:prstGeom prst="roundRect">
            <a:avLst>
              <a:gd name="adj" fmla="val 50000"/>
            </a:avLst>
          </a:prstGeom>
          <a:solidFill>
            <a:srgbClr val="E8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58487" y="44348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Media &amp; Partner Inquiries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B9C6CE"/>
                </a:solidFill>
                <a:latin typeface="Calibri"/>
              </a:rPr>
              <a:t>Add press/partner contact details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