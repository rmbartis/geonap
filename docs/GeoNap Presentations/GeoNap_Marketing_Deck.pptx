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4" r:id="rId17"/>
    <p:sldId id="271" r:id="rId18"/>
    <p:sldId id="273" r:id="rId19"/>
    <p:sldId id="272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0225"/>
    <p:restoredTop sz="94721"/>
  </p:normalViewPr>
  <p:slideViewPr>
    <p:cSldViewPr snapToGrid="0" snapToObjects="1">
      <p:cViewPr>
        <p:scale>
          <a:sx n="107" d="100"/>
          <a:sy n="107" d="100"/>
        </p:scale>
        <p:origin x="144" y="2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5" Type="http://schemas.openxmlformats.org/officeDocument/2006/relationships/image" Target="../media/image17.png"/><Relationship Id="rId4" Type="http://schemas.openxmlformats.org/officeDocument/2006/relationships/image" Target="../media/image6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testflight.apple.com/join/xANBX3gT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developer.apple.com/testflight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A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9692640" y="914400"/>
            <a:ext cx="502920" cy="502920"/>
          </a:xfrm>
          <a:prstGeom prst="line">
            <a:avLst/>
          </a:prstGeom>
          <a:ln w="2794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0195560" y="1417320"/>
            <a:ext cx="365760" cy="640080"/>
          </a:xfrm>
          <a:prstGeom prst="line">
            <a:avLst/>
          </a:prstGeom>
          <a:ln w="2794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561320" y="2057400"/>
            <a:ext cx="182880" cy="731520"/>
          </a:xfrm>
          <a:prstGeom prst="line">
            <a:avLst/>
          </a:prstGeom>
          <a:ln w="2794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9646919" y="868680"/>
            <a:ext cx="91440" cy="91440"/>
          </a:xfrm>
          <a:prstGeom prst="ellipse">
            <a:avLst/>
          </a:prstGeom>
          <a:solidFill>
            <a:srgbClr val="F5C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149840" y="1371600"/>
            <a:ext cx="91440" cy="91440"/>
          </a:xfrm>
          <a:prstGeom prst="ellipse">
            <a:avLst/>
          </a:prstGeom>
          <a:solidFill>
            <a:srgbClr val="F5C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515600" y="2011680"/>
            <a:ext cx="91440" cy="91440"/>
          </a:xfrm>
          <a:prstGeom prst="ellipse">
            <a:avLst/>
          </a:prstGeom>
          <a:solidFill>
            <a:srgbClr val="F5C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698480" y="2743200"/>
            <a:ext cx="91440" cy="91440"/>
          </a:xfrm>
          <a:prstGeom prst="ellipse">
            <a:avLst/>
          </a:prstGeom>
          <a:solidFill>
            <a:srgbClr val="F5C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012283" y="420623"/>
            <a:ext cx="2167127" cy="2167127"/>
          </a:xfrm>
          <a:prstGeom prst="roundRect">
            <a:avLst>
              <a:gd name="adj" fmla="val 22000"/>
            </a:avLst>
          </a:prstGeom>
          <a:solidFill>
            <a:srgbClr val="0F2836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app_icon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8587" y="566928"/>
            <a:ext cx="1874519" cy="187451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0" y="2697480"/>
            <a:ext cx="121916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spc="220">
                <a:solidFill>
                  <a:srgbClr val="F5C842"/>
                </a:solidFill>
                <a:latin typeface="Calibri"/>
              </a:rPr>
              <a:t>GEONAP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063240"/>
            <a:ext cx="10728655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3000"/>
              </a:lnSpc>
            </a:pPr>
            <a:r>
              <a:rPr sz="4400" b="1" i="0" dirty="0">
                <a:solidFill>
                  <a:srgbClr val="FFFFFF"/>
                </a:solidFill>
                <a:latin typeface="Cambria"/>
              </a:rPr>
              <a:t>Wake Up Where You Need To — Not When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4434840"/>
            <a:ext cx="926561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i="0" dirty="0">
                <a:solidFill>
                  <a:srgbClr val="B9C6CE"/>
                </a:solidFill>
                <a:latin typeface="Calibri"/>
              </a:rPr>
              <a:t>The alarm that knows where you're going, so you can finally relax on the way there.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41367" y="5349240"/>
            <a:ext cx="3108960" cy="457200"/>
          </a:xfrm>
          <a:prstGeom prst="roundRect">
            <a:avLst>
              <a:gd name="adj" fmla="val 50000"/>
            </a:avLst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41367" y="53492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i="0" dirty="0">
                <a:solidFill>
                  <a:srgbClr val="F5C842"/>
                </a:solidFill>
                <a:latin typeface="Calibri"/>
              </a:rPr>
              <a:t>For Commuters, Travelers</a:t>
            </a:r>
            <a:r>
              <a:rPr lang="en-US" sz="1150" b="1" i="0" dirty="0">
                <a:solidFill>
                  <a:srgbClr val="F5C842"/>
                </a:solidFill>
                <a:latin typeface="Calibri"/>
              </a:rPr>
              <a:t> &amp;</a:t>
            </a:r>
            <a:r>
              <a:rPr sz="1150" b="1" i="0" dirty="0">
                <a:solidFill>
                  <a:srgbClr val="F5C842"/>
                </a:solidFill>
                <a:latin typeface="Calibri"/>
              </a:rPr>
              <a:t> Anyone Who Naps On the Move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app_icon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0B7F79B2-7A27-4C1D-780B-DF253D78ACE1}"/>
              </a:ext>
            </a:extLst>
          </p:cNvPr>
          <p:cNvSpPr txBox="1"/>
          <p:nvPr/>
        </p:nvSpPr>
        <p:spPr>
          <a:xfrm>
            <a:off x="311201" y="6406708"/>
            <a:ext cx="1197559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en-US" sz="1150" b="1" i="0" dirty="0">
                <a:solidFill>
                  <a:srgbClr val="F5C842"/>
                </a:solidFill>
                <a:latin typeface="Calibri"/>
              </a:rPr>
              <a:t>1.145-20260712</a:t>
            </a:r>
            <a:endParaRPr sz="1150" b="1" i="0" dirty="0">
              <a:solidFill>
                <a:srgbClr val="F5C84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Falling Asleep Feels Risky When You're Traveling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74519"/>
            <a:ext cx="672084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You can't count on the station. </a:t>
            </a:r>
            <a:r>
              <a:rPr sz="1550" b="0">
                <a:solidFill>
                  <a:srgbClr val="17303F"/>
                </a:solidFill>
                <a:latin typeface="Calibri"/>
              </a:rPr>
              <a:t>Broken departure boards, garbled PA announcements, or signage in a language you don't read make it easy to miss your stop.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Staring at a map isn't restful. </a:t>
            </a:r>
            <a:r>
              <a:rPr sz="1550" b="0">
                <a:solidFill>
                  <a:srgbClr val="17303F"/>
                </a:solidFill>
                <a:latin typeface="Calibri"/>
              </a:rPr>
              <a:t>Watching a blue dot inch toward your destination defeats the point of dozing off.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Time-based alarms don't know your trip. </a:t>
            </a:r>
            <a:r>
              <a:rPr sz="1550" b="0">
                <a:solidFill>
                  <a:srgbClr val="17303F"/>
                </a:solidFill>
                <a:latin typeface="Calibri"/>
              </a:rPr>
              <a:t>Traffic, delays, and stops all change your real arrival time — a clock alarm can't adjust.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18120" y="1417320"/>
            <a:ext cx="3566160" cy="4709160"/>
          </a:xfrm>
          <a:prstGeom prst="roundRect">
            <a:avLst>
              <a:gd name="adj" fmla="val 6000"/>
            </a:avLst>
          </a:prstGeom>
          <a:solidFill>
            <a:srgbClr val="1A3A52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892540" y="2080260"/>
            <a:ext cx="1417320" cy="141732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moon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2696" y="2420416"/>
            <a:ext cx="737006" cy="73700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83880" y="3794760"/>
            <a:ext cx="283464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B9C6CE"/>
                </a:solidFill>
                <a:latin typeface="Calibri"/>
              </a:rPr>
              <a:t>GeoNap replaces the clock with your location — the alarm that actually knows where you're going.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Set It Once. GeoNap Takes It From There.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362456" y="3246120"/>
            <a:ext cx="4422495" cy="0"/>
          </a:xfrm>
          <a:prstGeom prst="line">
            <a:avLst/>
          </a:prstGeom>
          <a:ln w="3302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6743" y="3246120"/>
            <a:ext cx="4422496" cy="0"/>
          </a:xfrm>
          <a:prstGeom prst="line">
            <a:avLst/>
          </a:prstGeom>
          <a:ln w="3302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740663" y="2935224"/>
            <a:ext cx="621792" cy="621792"/>
          </a:xfrm>
          <a:prstGeom prst="ellipse">
            <a:avLst/>
          </a:prstGeom>
          <a:solidFill>
            <a:srgbClr val="1A3A52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40663" y="2935224"/>
            <a:ext cx="621792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5C842"/>
                </a:solidFill>
                <a:latin typeface="Cambr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749039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A3A52"/>
                </a:solidFill>
                <a:latin typeface="Cambria"/>
              </a:rPr>
              <a:t>Pin Your Stop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233672"/>
            <a:ext cx="233172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5C7182"/>
                </a:solidFill>
                <a:latin typeface="Calibri"/>
              </a:rPr>
              <a:t>Drop a pin on any address, station, or transit stop — or search for it by name.</a:t>
            </a:r>
          </a:p>
        </p:txBody>
      </p:sp>
      <p:sp>
        <p:nvSpPr>
          <p:cNvPr id="10" name="Oval 9"/>
          <p:cNvSpPr/>
          <p:nvPr/>
        </p:nvSpPr>
        <p:spPr>
          <a:xfrm>
            <a:off x="5784951" y="2935224"/>
            <a:ext cx="621792" cy="621792"/>
          </a:xfrm>
          <a:prstGeom prst="ellipse">
            <a:avLst/>
          </a:prstGeom>
          <a:solidFill>
            <a:srgbClr val="1A3A52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784951" y="2935224"/>
            <a:ext cx="621792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5C842"/>
                </a:solidFill>
                <a:latin typeface="Cambr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29987" y="3749039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A3A52"/>
                </a:solidFill>
                <a:latin typeface="Cambria"/>
              </a:rPr>
              <a:t>Nap, Ride, Relax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29987" y="4233672"/>
            <a:ext cx="233172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5C7182"/>
                </a:solidFill>
                <a:latin typeface="Calibri"/>
              </a:rPr>
              <a:t>GeoNap quietly tracks your location in the background — no need to keep the app open.</a:t>
            </a:r>
          </a:p>
        </p:txBody>
      </p:sp>
      <p:sp>
        <p:nvSpPr>
          <p:cNvPr id="14" name="Oval 13"/>
          <p:cNvSpPr/>
          <p:nvPr/>
        </p:nvSpPr>
        <p:spPr>
          <a:xfrm>
            <a:off x="10829239" y="2935224"/>
            <a:ext cx="621792" cy="621792"/>
          </a:xfrm>
          <a:prstGeom prst="ellipse">
            <a:avLst/>
          </a:prstGeom>
          <a:solidFill>
            <a:srgbClr val="1A3A52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829239" y="2935224"/>
            <a:ext cx="621792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5C842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57055" y="3749039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A3A52"/>
                </a:solidFill>
                <a:latin typeface="Cambria"/>
              </a:rPr>
              <a:t>Wake Up Right On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57055" y="4233672"/>
            <a:ext cx="233172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5C7182"/>
                </a:solidFill>
                <a:latin typeface="Calibri"/>
              </a:rPr>
              <a:t>A full-screen alarm fires the moment you arrive or leave — it cuts through silent mode.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app_icon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CREATING AN ALARM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Pin a Spot, or Pick a Transit Stop — Your Choice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74519"/>
            <a:ext cx="672084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Location Alarm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search any address or drop a pin anywhere in the world, down to exact GPS coordinates.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Transit Alarm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pick your agency, route, and stop from live schedules — no coordinates needed.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Radius, your way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a simple slider sets how close you need to be before the alarm fires.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Save in seconds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name it, choose arrival or departure, and you're covered for every future trip.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18120" y="1417320"/>
            <a:ext cx="3566160" cy="4709160"/>
          </a:xfrm>
          <a:prstGeom prst="roundRect">
            <a:avLst>
              <a:gd name="adj" fmla="val 6000"/>
            </a:avLst>
          </a:prstGeom>
          <a:solidFill>
            <a:srgbClr val="1A3A52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892540" y="2080260"/>
            <a:ext cx="1417320" cy="141732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pin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2696" y="2420416"/>
            <a:ext cx="737006" cy="73700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83880" y="3794760"/>
            <a:ext cx="283464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B9C6CE"/>
                </a:solidFill>
                <a:latin typeface="Calibri"/>
              </a:rPr>
              <a:t>Up to 20 active alarms at once on paid tiers — plenty for a daily commute plus every stop on a trip. Free tier includes one active alarm.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PEACE OF MIND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Travel Like Someone's Watching Your Stop For You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74519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22960" y="261975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bell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968" y="2777764"/>
            <a:ext cx="342351" cy="34235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45919" y="207568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Nap Without Worry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19" y="244144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Close your eyes knowing GeoNap will wake you at your stop, every single time.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874519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553047" y="261975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pin_F5C8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1055" y="2777764"/>
            <a:ext cx="342351" cy="34235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76007" y="207568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Never Miss Your Stop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76007" y="244144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GeoNap runs on your phone's own location, not the station's screens or speakers — broken displays, garbled announcements, or signs in a language you don't read don't matter.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343400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22960" y="508863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message_F5C84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0968" y="5246644"/>
            <a:ext cx="342351" cy="34235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45919" y="454456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Keep Others in the Loop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19" y="491032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Auto-Notify texts friends, family, or coworkers the moment you leave or arrive — so they always know where you are on the trip, without you lifting a finger.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8727" y="4343400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6553047" y="508863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phone_F5C84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055" y="5246644"/>
            <a:ext cx="342351" cy="34235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76007" y="454456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See It All at a Glance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6007" y="491032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Every alarm shows its trigger, radius, and status right on the home screen.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app_icon_roun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SMARTER EVERY TRIP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Features That Work Quietly in the Background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74519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22960" y="261975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calendar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968" y="2777764"/>
            <a:ext cx="342351" cy="34235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45919" y="207568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Calendar Scanning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19" y="244144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GeoNap scans your calendar for upcoming trips and suggests alarms — you choose which to add.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874519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553047" y="261975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mic_F5C8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1055" y="2777764"/>
            <a:ext cx="342351" cy="34235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76007" y="207568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Hands-Free with Siri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76007" y="244144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“Create a GeoNap” sets an alarm using just your voice — no typing required.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343400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22960" y="508863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home_F5C84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0968" y="5246644"/>
            <a:ext cx="342351" cy="34235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45919" y="454456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Run Any Shortcut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19" y="491032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 dirty="0">
                <a:solidFill>
                  <a:srgbClr val="5C7182"/>
                </a:solidFill>
                <a:latin typeface="Calibri"/>
              </a:rPr>
              <a:t>Trigger a Shortcut when you arrive — lights and heat, a </a:t>
            </a:r>
            <a:r>
              <a:rPr lang="en-US" sz="1200" b="0" i="0" dirty="0">
                <a:solidFill>
                  <a:srgbClr val="5C7182"/>
                </a:solidFill>
                <a:latin typeface="Calibri"/>
              </a:rPr>
              <a:t>text</a:t>
            </a:r>
            <a:r>
              <a:rPr sz="1200" b="0" i="0" dirty="0">
                <a:solidFill>
                  <a:srgbClr val="5C7182"/>
                </a:solidFill>
                <a:latin typeface="Calibri"/>
              </a:rPr>
              <a:t> to family, even a remote car start.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8727" y="4343400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6553047" y="508863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car_F5C84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055" y="5246644"/>
            <a:ext cx="342351" cy="34235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76007" y="454456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Built for CarPlay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6007" y="491032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Alarms appear right on your car's screen for any passenger riding along.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app_icon_roun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640080" y="5120640"/>
            <a:ext cx="502920" cy="50292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914400" y="5623560"/>
            <a:ext cx="228600" cy="54864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188720" y="1463039"/>
            <a:ext cx="1737360" cy="173736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train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686" y="1880006"/>
            <a:ext cx="903427" cy="9034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42900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spc="180">
                <a:solidFill>
                  <a:srgbClr val="F5C842"/>
                </a:solidFill>
                <a:latin typeface="Calibri"/>
              </a:rPr>
              <a:t>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94760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Train &amp; Subway</a:t>
            </a:r>
          </a:p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Commuters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5943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USE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896112"/>
            <a:ext cx="684245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A3A52"/>
                </a:solidFill>
                <a:latin typeface="Cambria"/>
              </a:rPr>
              <a:t>The Daily Commute, Finally Restful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965960"/>
            <a:ext cx="6751015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7303F"/>
                </a:solidFill>
                <a:latin typeface="Calibri"/>
              </a:rPr>
              <a:t>Set an alarm at your station once. Every morning, doze off the moment you sit down — GeoNap wakes you just before you arrive, automatically, without setting anything twice.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0600" y="5074920"/>
            <a:ext cx="6339535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74920" y="5239512"/>
            <a:ext cx="579089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Repeating alarms reset automatically after each trip, so the same alarm is ready again tomorrow.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640080" y="5120640"/>
            <a:ext cx="502920" cy="50292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914400" y="5623560"/>
            <a:ext cx="228600" cy="54864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188720" y="1463039"/>
            <a:ext cx="1737360" cy="173736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home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686" y="1880006"/>
            <a:ext cx="903427" cy="9034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42900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spc="180">
                <a:solidFill>
                  <a:srgbClr val="F5C842"/>
                </a:solidFill>
                <a:latin typeface="Calibri"/>
              </a:rPr>
              <a:t>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94760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Arriving</a:t>
            </a:r>
          </a:p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Home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5943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USE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896112"/>
            <a:ext cx="684245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A3A52"/>
                </a:solidFill>
                <a:latin typeface="Cambria"/>
              </a:rPr>
              <a:t>Walk Into a Home That's Already Ready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965960"/>
            <a:ext cx="6751015" cy="5840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 dirty="0">
                <a:solidFill>
                  <a:srgbClr val="17303F"/>
                </a:solidFill>
                <a:latin typeface="Calibri"/>
              </a:rPr>
              <a:t>As you approach your stop, </a:t>
            </a:r>
            <a:r>
              <a:rPr sz="1500" b="0" i="0" dirty="0" err="1">
                <a:solidFill>
                  <a:srgbClr val="17303F"/>
                </a:solidFill>
                <a:latin typeface="Calibri"/>
              </a:rPr>
              <a:t>GeoNap</a:t>
            </a:r>
            <a:r>
              <a:rPr sz="1500" b="0" i="0" dirty="0">
                <a:solidFill>
                  <a:srgbClr val="17303F"/>
                </a:solidFill>
                <a:latin typeface="Calibri"/>
              </a:rPr>
              <a:t> wakes you and </a:t>
            </a:r>
            <a:r>
              <a:rPr lang="en-US" sz="1500" b="0" i="0" dirty="0">
                <a:solidFill>
                  <a:srgbClr val="17303F"/>
                </a:solidFill>
                <a:latin typeface="Calibri"/>
              </a:rPr>
              <a:t>can </a:t>
            </a:r>
            <a:r>
              <a:rPr sz="1500" b="0" i="0" dirty="0">
                <a:solidFill>
                  <a:srgbClr val="17303F"/>
                </a:solidFill>
                <a:latin typeface="Calibri"/>
              </a:rPr>
              <a:t>run </a:t>
            </a:r>
            <a:r>
              <a:rPr lang="en-US" sz="1500" dirty="0">
                <a:solidFill>
                  <a:srgbClr val="17303F"/>
                </a:solidFill>
                <a:latin typeface="Calibri"/>
              </a:rPr>
              <a:t>any </a:t>
            </a:r>
            <a:r>
              <a:rPr sz="1500" b="0" i="0" dirty="0">
                <a:solidFill>
                  <a:srgbClr val="17303F"/>
                </a:solidFill>
                <a:latin typeface="Calibri"/>
              </a:rPr>
              <a:t>Shortcut at the same moment — lights on, thermostat set, and everything ready before you walk in the door.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0600" y="5074920"/>
            <a:ext cx="6339535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74920" y="5239512"/>
            <a:ext cx="5790895" cy="434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 dirty="0">
                <a:solidFill>
                  <a:srgbClr val="5C7182"/>
                </a:solidFill>
                <a:latin typeface="Calibri"/>
              </a:rPr>
              <a:t>Powered by any Shortcut you build — HomeKit scenes, a text to family, even a remote car start</a:t>
            </a:r>
            <a:r>
              <a:rPr lang="en-US" sz="1200" b="0" i="0" dirty="0">
                <a:solidFill>
                  <a:srgbClr val="5C7182"/>
                </a:solidFill>
                <a:latin typeface="Calibri"/>
              </a:rPr>
              <a:t>, any application that support Apple shortcuts</a:t>
            </a:r>
            <a:r>
              <a:rPr sz="1200" b="0" i="0" dirty="0">
                <a:solidFill>
                  <a:srgbClr val="5C7182"/>
                </a:solidFill>
                <a:latin typeface="Calibri"/>
              </a:rPr>
              <a:t>. </a:t>
            </a:r>
            <a:r>
              <a:rPr sz="1200" b="0" i="0" dirty="0" err="1">
                <a:solidFill>
                  <a:srgbClr val="5C7182"/>
                </a:solidFill>
                <a:latin typeface="Calibri"/>
              </a:rPr>
              <a:t>GeoNap</a:t>
            </a:r>
            <a:r>
              <a:rPr sz="1200" b="0" i="0" dirty="0">
                <a:solidFill>
                  <a:srgbClr val="5C7182"/>
                </a:solidFill>
                <a:latin typeface="Calibri"/>
              </a:rPr>
              <a:t> just needs its name.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640080" y="5120640"/>
            <a:ext cx="502920" cy="50292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914400" y="5623560"/>
            <a:ext cx="228600" cy="54864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188720" y="1463039"/>
            <a:ext cx="1737360" cy="173736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bus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686" y="1880006"/>
            <a:ext cx="903427" cy="9034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42900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spc="180">
                <a:solidFill>
                  <a:srgbClr val="F5C842"/>
                </a:solidFill>
                <a:latin typeface="Calibri"/>
              </a:rPr>
              <a:t>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94760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Bus</a:t>
            </a:r>
          </a:p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Riders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5943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USE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896112"/>
            <a:ext cx="684245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A3A52"/>
                </a:solidFill>
                <a:latin typeface="Cambria"/>
              </a:rPr>
              <a:t>Never Miss the Bus Again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965960"/>
            <a:ext cx="6751015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7303F"/>
                </a:solidFill>
                <a:latin typeface="Calibri"/>
              </a:rPr>
              <a:t>Set a departure alarm at your home stop. GeoNap fires the moment you leave the area — a built-in reminder to head out, right when you need 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0600" y="5074920"/>
            <a:ext cx="6339535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74920" y="5239512"/>
            <a:ext cx="579089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Choose On Departure as the trigger, and pair it with a comfortable radius for your stop.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640080" y="5120640"/>
            <a:ext cx="502920" cy="50292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914400" y="5623560"/>
            <a:ext cx="228600" cy="54864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188720" y="1463039"/>
            <a:ext cx="1737360" cy="173736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car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686" y="1880006"/>
            <a:ext cx="903427" cy="9034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42900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spc="180">
                <a:solidFill>
                  <a:srgbClr val="F5C842"/>
                </a:solidFill>
                <a:latin typeface="Calibri"/>
              </a:rPr>
              <a:t>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94760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Road Trip</a:t>
            </a:r>
          </a:p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Passengers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5943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USE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896112"/>
            <a:ext cx="684245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A3A52"/>
                </a:solidFill>
                <a:latin typeface="Cambria"/>
              </a:rPr>
              <a:t>Ride Along Without Watching the 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965960"/>
            <a:ext cx="6751015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7303F"/>
                </a:solidFill>
                <a:latin typeface="Calibri"/>
              </a:rPr>
              <a:t>Set an alarm at a waypoint city or your final destination. You'll be notified the moment the car gets close — so you can read, nap, or chat instead of tracking every mile.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0600" y="5074920"/>
            <a:ext cx="6339535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74920" y="5239512"/>
            <a:ext cx="579089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Time-based triggers can even wake you a set number of minutes before arrival, based on your current speed.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640080" y="5120640"/>
            <a:ext cx="502920" cy="50292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914400" y="5623560"/>
            <a:ext cx="228600" cy="54864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188720" y="1463039"/>
            <a:ext cx="1737360" cy="173736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plane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686" y="1880006"/>
            <a:ext cx="903427" cy="9034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42900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spc="180">
                <a:solidFill>
                  <a:srgbClr val="F5C842"/>
                </a:solidFill>
                <a:latin typeface="Calibri"/>
              </a:rPr>
              <a:t>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94760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Travelers</a:t>
            </a:r>
          </a:p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Abroad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5943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USE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896112"/>
            <a:ext cx="684245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A3A52"/>
                </a:solidFill>
                <a:latin typeface="Cambria"/>
              </a:rPr>
              <a:t>Confidence in Any New City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965960"/>
            <a:ext cx="6751015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7303F"/>
                </a:solidFill>
                <a:latin typeface="Calibri"/>
              </a:rPr>
              <a:t>Set alarms at your hotel, airport, or meeting locations so you always know the moment you're getting close — even somewhere you've never been.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0600" y="5074920"/>
            <a:ext cx="6339535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74920" y="5239512"/>
            <a:ext cx="579089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GeoNap works fully offline for standard alarms, and is available in 13 languages.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640080" y="5120640"/>
            <a:ext cx="502920" cy="50292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914400" y="5623560"/>
            <a:ext cx="228600" cy="54864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188720" y="1463039"/>
            <a:ext cx="1737360" cy="173736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people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686" y="1880006"/>
            <a:ext cx="903427" cy="9034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42900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spc="180">
                <a:solidFill>
                  <a:srgbClr val="F5C842"/>
                </a:solidFill>
                <a:latin typeface="Calibri"/>
              </a:rPr>
              <a:t>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94760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Family &amp;</a:t>
            </a:r>
          </a:p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Friends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5943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USE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896112"/>
            <a:ext cx="684245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A3A52"/>
                </a:solidFill>
                <a:latin typeface="Cambria"/>
              </a:rPr>
              <a:t>Know They're On Their Way — and Home Safe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965960"/>
            <a:ext cx="6751015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7303F"/>
                </a:solidFill>
                <a:latin typeface="Calibri"/>
              </a:rPr>
              <a:t>Turn on Auto-Notify for any alarm and the people who care get a text the moment you leave and the moment you arrive — a parent tracking a teenager's commute, or family waiting to hear you landed safe.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0600" y="5074920"/>
            <a:ext cx="6339535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74920" y="5239512"/>
            <a:ext cx="579089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Auto-Notify fires on both On Departure and On Arrival triggers, so both ends of every trip are covered automatically.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BUILT FOR REAL TRIPS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Two Ways an Alarm Knows When to Fire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74519"/>
            <a:ext cx="672084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Distance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fires the moment you cross a set radius from your pin. Ideal for a fixed stop like a single station.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Time before arrival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fires a set number of minutes before you get there, based on your travel speed — perfect for “wake me 5 minutes before my stop.”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Every radius, adjustable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200 m suits a single station; 500–1,000 m gives extra time near a town center or airport.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18120" y="1417320"/>
            <a:ext cx="3566160" cy="4709160"/>
          </a:xfrm>
          <a:prstGeom prst="roundRect">
            <a:avLst>
              <a:gd name="adj" fmla="val 6000"/>
            </a:avLst>
          </a:prstGeom>
          <a:solidFill>
            <a:srgbClr val="1A3A52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892540" y="2080260"/>
            <a:ext cx="1417320" cy="141732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gauge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2696" y="2420416"/>
            <a:ext cx="737006" cy="73700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83880" y="3794760"/>
            <a:ext cx="283464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B9C6CE"/>
                </a:solidFill>
                <a:latin typeface="Calibri"/>
              </a:rPr>
              <a:t>Time mode is ideal for napping on a train or bus — it adapts to how fast you're actually moving.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GO ANYWHERE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Worldwide Transit, In Your Language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74519"/>
            <a:ext cx="672084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Preloaded agencies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Amtrak, BART, MBTA, CTA, GO Transit, and more, ready out of the box.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Any public feed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add any transit agency worldwide with a public GTFS feed URL.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13 languages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English, Spanish, French, German, Italian, Portuguese, Arabic, Hindi, Japanese, Simplified Chinese, Russian, Thai, and Vietnamese.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Bundled travel sounds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boat horn, cable car bell, steam train, sailboat bell, airplane landing, airport chime, or vibrate only.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18120" y="1417320"/>
            <a:ext cx="3566160" cy="4709160"/>
          </a:xfrm>
          <a:prstGeom prst="roundRect">
            <a:avLst>
              <a:gd name="adj" fmla="val 6000"/>
            </a:avLst>
          </a:prstGeom>
          <a:solidFill>
            <a:srgbClr val="1A3A52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892540" y="2080260"/>
            <a:ext cx="1417320" cy="141732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globe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2696" y="2420416"/>
            <a:ext cx="737006" cy="73700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A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943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F5C842"/>
                </a:solidFill>
                <a:latin typeface="Calibri"/>
              </a:rPr>
              <a:t>BUILT ON TRUST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96112"/>
            <a:ext cx="1054577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mbria"/>
              </a:rPr>
              <a:t>Your Location. Your Calendar. Your Control.</a:t>
            </a:r>
          </a:p>
        </p:txBody>
      </p:sp>
      <p:sp>
        <p:nvSpPr>
          <p:cNvPr id="4" name="Oval 3"/>
          <p:cNvSpPr/>
          <p:nvPr/>
        </p:nvSpPr>
        <p:spPr>
          <a:xfrm>
            <a:off x="1097279" y="2468879"/>
            <a:ext cx="1554480" cy="155448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shield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0355" y="2841955"/>
            <a:ext cx="808329" cy="8083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40" y="2331720"/>
            <a:ext cx="8442655" cy="1737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Calendar data is read entirely on your device and never uploaded or shared.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4160520"/>
            <a:ext cx="8442655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 algn="l">
              <a:lnSpc>
                <a:spcPct val="120000"/>
              </a:lnSpc>
              <a:spcAft>
                <a:spcPts val="800"/>
              </a:spcAft>
              <a:buClr>
                <a:srgbClr val="F5C842"/>
              </a:buClr>
              <a:buFont typeface="Arial"/>
              <a:buChar char="•"/>
            </a:pPr>
            <a:r>
              <a:rPr sz="1350" b="0">
                <a:solidFill>
                  <a:srgbClr val="B9C6CE"/>
                </a:solidFill>
                <a:latin typeface="Calibri"/>
              </a:rPr>
              <a:t>Calendar Scanning is off by default — you turn it on, and you choose which calendars to include.</a:t>
            </a:r>
          </a:p>
          <a:p>
            <a:pPr marL="182880" indent="-182880" algn="l">
              <a:lnSpc>
                <a:spcPct val="120000"/>
              </a:lnSpc>
              <a:spcAft>
                <a:spcPts val="800"/>
              </a:spcAft>
              <a:buClr>
                <a:srgbClr val="F5C842"/>
              </a:buClr>
              <a:buFont typeface="Arial"/>
              <a:buChar char="•"/>
            </a:pPr>
            <a:r>
              <a:rPr sz="1350" b="0">
                <a:solidFill>
                  <a:srgbClr val="B9C6CE"/>
                </a:solidFill>
                <a:latin typeface="Calibri"/>
              </a:rPr>
              <a:t>Every suggested alarm is reviewed by you first; nothing is added automatically.</a:t>
            </a:r>
          </a:p>
          <a:p>
            <a:pPr marL="182880" indent="-182880" algn="l">
              <a:lnSpc>
                <a:spcPct val="120000"/>
              </a:lnSpc>
              <a:spcAft>
                <a:spcPts val="800"/>
              </a:spcAft>
              <a:buClr>
                <a:srgbClr val="F5C842"/>
              </a:buClr>
              <a:buFont typeface="Arial"/>
              <a:buChar char="•"/>
            </a:pPr>
            <a:r>
              <a:rPr sz="1350" b="0">
                <a:solidFill>
                  <a:srgbClr val="B9C6CE"/>
                </a:solidFill>
                <a:latin typeface="Calibri"/>
              </a:rPr>
              <a:t>Full disclosure of how location data is handled is always one tap away in Settings.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A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F5C842"/>
                </a:solidFill>
                <a:latin typeface="Calibri"/>
              </a:rPr>
              <a:t>YOUR DATA, YOUR CONTROL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FFFFFF"/>
                </a:solidFill>
                <a:latin typeface="Cambria"/>
              </a:rPr>
              <a:t>Privacy at a Glance</a:t>
            </a:r>
          </a:p>
        </p:txBody>
      </p:sp>
      <p:sp>
        <p:nvSpPr>
          <p:cNvPr id="5" name="Rounded Rectangle"/>
          <p:cNvSpPr/>
          <p:nvPr/>
        </p:nvSpPr>
        <p:spPr>
          <a:xfrm>
            <a:off x="548640" y="1874519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244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"/>
          <p:cNvSpPr/>
          <p:nvPr/>
        </p:nvSpPr>
        <p:spPr>
          <a:xfrm>
            <a:off x="822960" y="2619756"/>
            <a:ext cx="658368" cy="658368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" descr="privacy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968" y="2777764"/>
            <a:ext cx="342351" cy="342351"/>
          </a:xfrm>
          <a:prstGeom prst="rect">
            <a:avLst/>
          </a:prstGeom>
        </p:spPr>
      </p:pic>
      <p:sp>
        <p:nvSpPr>
          <p:cNvPr id="8" name="TextBox Header"/>
          <p:cNvSpPr txBox="1"/>
          <p:nvPr/>
        </p:nvSpPr>
        <p:spPr>
          <a:xfrm>
            <a:off x="1645919" y="207568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Cambria"/>
              </a:rPr>
              <a:t>Location</a:t>
            </a:r>
          </a:p>
        </p:txBody>
      </p:sp>
      <p:sp>
        <p:nvSpPr>
          <p:cNvPr id="9" name="TextBox Body"/>
          <p:cNvSpPr txBox="1"/>
          <p:nvPr/>
        </p:nvSpPr>
        <p:spPr>
          <a:xfrm>
            <a:off x="1645919" y="244144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B9C6CE"/>
                </a:solidFill>
                <a:latin typeface="Calibri"/>
              </a:rPr>
              <a:t>Processed entirely on your device — never sent to any server I operate, and kept only as long as needed to trigger your alarm.</a:t>
            </a:r>
          </a:p>
        </p:txBody>
      </p:sp>
      <p:sp>
        <p:nvSpPr>
          <p:cNvPr id="10" name="Rounded Rectangle"/>
          <p:cNvSpPr/>
          <p:nvPr/>
        </p:nvSpPr>
        <p:spPr>
          <a:xfrm>
            <a:off x="6278727" y="1874519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244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"/>
          <p:cNvSpPr/>
          <p:nvPr/>
        </p:nvSpPr>
        <p:spPr>
          <a:xfrm>
            <a:off x="6553047" y="2619756"/>
            <a:ext cx="658368" cy="658368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" descr="privacy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1055" y="2777764"/>
            <a:ext cx="342351" cy="342351"/>
          </a:xfrm>
          <a:prstGeom prst="rect">
            <a:avLst/>
          </a:prstGeom>
        </p:spPr>
      </p:pic>
      <p:sp>
        <p:nvSpPr>
          <p:cNvPr id="13" name="TextBox Header"/>
          <p:cNvSpPr txBox="1"/>
          <p:nvPr/>
        </p:nvSpPr>
        <p:spPr>
          <a:xfrm>
            <a:off x="7376006" y="207568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Cambria"/>
              </a:rPr>
              <a:t>Auto-Notify Contacts</a:t>
            </a:r>
          </a:p>
        </p:txBody>
      </p:sp>
      <p:sp>
        <p:nvSpPr>
          <p:cNvPr id="14" name="TextBox Body"/>
          <p:cNvSpPr txBox="1"/>
          <p:nvPr/>
        </p:nvSpPr>
        <p:spPr>
          <a:xfrm>
            <a:off x="7376006" y="244144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B9C6CE"/>
                </a:solidFill>
                <a:latin typeface="Calibri"/>
              </a:rPr>
              <a:t>Only the contact(s) you pick via Apple’s contact picker — just a name and phone number or email. No bulk access to your address book.</a:t>
            </a:r>
          </a:p>
        </p:txBody>
      </p:sp>
      <p:sp>
        <p:nvSpPr>
          <p:cNvPr id="15" name="Rounded Rectangle"/>
          <p:cNvSpPr/>
          <p:nvPr/>
        </p:nvSpPr>
        <p:spPr>
          <a:xfrm>
            <a:off x="548640" y="4343400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244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"/>
          <p:cNvSpPr/>
          <p:nvPr/>
        </p:nvSpPr>
        <p:spPr>
          <a:xfrm>
            <a:off x="822960" y="5088637"/>
            <a:ext cx="658368" cy="658368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" descr="privacy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0968" y="5246645"/>
            <a:ext cx="342351" cy="342351"/>
          </a:xfrm>
          <a:prstGeom prst="rect">
            <a:avLst/>
          </a:prstGeom>
        </p:spPr>
      </p:pic>
      <p:sp>
        <p:nvSpPr>
          <p:cNvPr id="18" name="TextBox Header"/>
          <p:cNvSpPr txBox="1"/>
          <p:nvPr/>
        </p:nvSpPr>
        <p:spPr>
          <a:xfrm>
            <a:off x="1645919" y="4544569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Cambria"/>
              </a:rPr>
              <a:t>Apple Watch</a:t>
            </a:r>
          </a:p>
        </p:txBody>
      </p:sp>
      <p:sp>
        <p:nvSpPr>
          <p:cNvPr id="19" name="TextBox Body"/>
          <p:cNvSpPr txBox="1"/>
          <p:nvPr/>
        </p:nvSpPr>
        <p:spPr>
          <a:xfrm>
            <a:off x="1645919" y="4910329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B9C6CE"/>
                </a:solidFill>
                <a:latin typeface="Calibri"/>
              </a:rPr>
              <a:t>Alarms sync device-to-device via WatchConnectivity and live in a local App Group on your Watch — never synced to iCloud from the Watch.</a:t>
            </a:r>
          </a:p>
        </p:txBody>
      </p:sp>
      <p:sp>
        <p:nvSpPr>
          <p:cNvPr id="20" name="Rounded Rectangle"/>
          <p:cNvSpPr/>
          <p:nvPr/>
        </p:nvSpPr>
        <p:spPr>
          <a:xfrm>
            <a:off x="6278727" y="4343400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244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"/>
          <p:cNvSpPr/>
          <p:nvPr/>
        </p:nvSpPr>
        <p:spPr>
          <a:xfrm>
            <a:off x="6553047" y="5088637"/>
            <a:ext cx="658368" cy="658368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" descr="privacy_ic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055" y="5246645"/>
            <a:ext cx="342351" cy="342351"/>
          </a:xfrm>
          <a:prstGeom prst="rect">
            <a:avLst/>
          </a:prstGeom>
        </p:spPr>
      </p:pic>
      <p:sp>
        <p:nvSpPr>
          <p:cNvPr id="23" name="TextBox Header"/>
          <p:cNvSpPr txBox="1"/>
          <p:nvPr/>
        </p:nvSpPr>
        <p:spPr>
          <a:xfrm>
            <a:off x="7376006" y="4544569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Cambria"/>
              </a:rPr>
              <a:t>Diagnostics</a:t>
            </a:r>
          </a:p>
        </p:txBody>
      </p:sp>
      <p:sp>
        <p:nvSpPr>
          <p:cNvPr id="24" name="TextBox Body"/>
          <p:cNvSpPr txBox="1"/>
          <p:nvPr/>
        </p:nvSpPr>
        <p:spPr>
          <a:xfrm>
            <a:off x="7376006" y="4910329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B9C6CE"/>
                </a:solidFill>
                <a:latin typeface="Calibri"/>
              </a:rPr>
              <a:t>Crash and error logging happens entirely on-device via Apple’s own OSLog — no third-party crash SDK, nothing ever leaves your device.</a:t>
            </a:r>
          </a:p>
        </p:txBody>
      </p:sp>
      <p:sp>
        <p:nvSpPr>
          <p:cNvPr id="25" name="Rounded Rectangle Badge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Picture Logo" descr="app_icon_roun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AVAILABILITY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Where GeoNap Runs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2356154"/>
              </p:ext>
            </p:extLst>
          </p:nvPr>
        </p:nvGraphicFramePr>
        <p:xfrm>
          <a:off x="548640" y="1298446"/>
          <a:ext cx="11091672" cy="51572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655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59536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Device</a:t>
                      </a:r>
                    </a:p>
                  </a:txBody>
                  <a:tcPr marL="109728" marT="54864" marB="54864" anchor="ctr">
                    <a:solidFill>
                      <a:srgbClr val="1A3A5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Requirement</a:t>
                      </a:r>
                    </a:p>
                  </a:txBody>
                  <a:tcPr marL="109728" marT="54864" marB="54864" anchor="ctr">
                    <a:solidFill>
                      <a:srgbClr val="1A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59536"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t>iPhone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t>iOS 26.0 or later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59536"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t>iPad</a:t>
                      </a:r>
                    </a:p>
                  </a:txBody>
                  <a:tcPr marL="109728" anchor="ctr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t>iPadOS 26.0 or later</a:t>
                      </a:r>
                    </a:p>
                  </a:txBody>
                  <a:tcPr marL="109728" anchor="ctr">
                    <a:solidFill>
                      <a:srgbClr val="EF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59536"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t>Apple Watch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rPr dirty="0"/>
                        <a:t>watchOS 26.0 or later (companion features)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59536">
                <a:tc>
                  <a:txBody>
                    <a:bodyPr/>
                    <a:lstStyle/>
                    <a:p>
                      <a:pPr marL="0" algn="l" defTabSz="457200" rtl="0" eaLnBrk="1" latinLnBrk="0" hangingPunct="1">
                        <a:defRPr sz="1250" b="1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rPr lang="en-US" sz="1250" b="1" kern="1200" dirty="0">
                          <a:solidFill>
                            <a:srgbClr val="17303F"/>
                          </a:solidFill>
                          <a:latin typeface="Calibri"/>
                          <a:ea typeface="+mn-ea"/>
                          <a:cs typeface="+mn-cs"/>
                        </a:rPr>
                        <a:t>Car Play / Apple Shortcuts</a:t>
                      </a:r>
                      <a:endParaRPr sz="1250" b="1" kern="1200" dirty="0">
                        <a:solidFill>
                          <a:srgbClr val="17303F"/>
                        </a:solidFill>
                        <a:latin typeface="Calibri"/>
                        <a:ea typeface="+mn-ea"/>
                        <a:cs typeface="+mn-cs"/>
                      </a:endParaRPr>
                    </a:p>
                  </a:txBody>
                  <a:tcPr marL="109728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>
                        <a:defRPr sz="1250" b="1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rPr lang="en-US" sz="1250" b="1" kern="1200" dirty="0">
                          <a:solidFill>
                            <a:srgbClr val="17303F"/>
                          </a:solidFill>
                          <a:latin typeface="Calibri"/>
                          <a:ea typeface="+mn-ea"/>
                          <a:cs typeface="+mn-cs"/>
                        </a:rPr>
                        <a:t>Supported</a:t>
                      </a:r>
                      <a:endParaRPr sz="1250" b="1" kern="1200" dirty="0">
                        <a:solidFill>
                          <a:srgbClr val="17303F"/>
                        </a:solidFill>
                        <a:latin typeface="Calibri"/>
                        <a:ea typeface="+mn-ea"/>
                        <a:cs typeface="+mn-cs"/>
                      </a:endParaRPr>
                    </a:p>
                  </a:txBody>
                  <a:tcPr marL="109728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1994490"/>
                  </a:ext>
                </a:extLst>
              </a:tr>
              <a:tr h="859536"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rPr dirty="0"/>
                        <a:t>Connectivity</a:t>
                      </a:r>
                    </a:p>
                  </a:txBody>
                  <a:tcPr marL="109728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rPr dirty="0"/>
                        <a:t>Offline for standard alarms; internet needed only for transit feed downloads</a:t>
                      </a:r>
                    </a:p>
                  </a:txBody>
                  <a:tcPr marL="109728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199631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C7182"/>
                </a:solidFill>
                <a:latin typeface="Calibri"/>
              </a:rPr>
              <a:t>Location Services must be set to Always so alarms can fire in the background.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app_icon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PRICING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Simple Plans for Every Traveler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16343"/>
              </p:ext>
            </p:extLst>
          </p:nvPr>
        </p:nvGraphicFramePr>
        <p:xfrm>
          <a:off x="548640" y="1700000"/>
          <a:ext cx="11091672" cy="44840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484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00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Plan</a:t>
                      </a:r>
                    </a:p>
                  </a:txBody>
                  <a:tcPr marL="109728" marT="54864" marB="54864" anchor="ctr">
                    <a:solidFill>
                      <a:srgbClr val="1A3A5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What's Included</a:t>
                      </a:r>
                    </a:p>
                  </a:txBody>
                  <a:tcPr marL="109728" marT="54864" marB="54864" anchor="ctr">
                    <a:solidFill>
                      <a:srgbClr val="1A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6000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400" b="1">
                          <a:solidFill>
                            <a:srgbClr val="17303F"/>
                          </a:solidFill>
                          <a:latin typeface="Cambria"/>
                        </a:defRPr>
                      </a:pPr>
                      <a:r>
                        <a:t>Free</a:t>
                      </a:r>
                    </a:p>
                    <a:p>
                      <a:pPr>
                        <a:defRPr sz="1150" b="0">
                          <a:solidFill>
                            <a:srgbClr val="5C7182"/>
                          </a:solidFill>
                          <a:latin typeface="Calibri"/>
                        </a:defRPr>
                      </a:pPr>
                      <a:r>
                        <a:t>$0</a:t>
                      </a:r>
                    </a:p>
                  </a:txBody>
                  <a:tcPr marL="109728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lang="en-US"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Location</a:t>
                      </a: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 alarm</a:t>
                      </a:r>
                      <a:r>
                        <a:rPr lang="en-US"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 only (no support for time based or Transit alarm creation)</a:t>
                      </a:r>
                      <a:endParaRPr sz="1050" b="0" dirty="0">
                        <a:solidFill>
                          <a:srgbClr val="17303F"/>
                        </a:solidFill>
                        <a:latin typeface="Calibri"/>
                      </a:endParaRP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One active alarm (distance-based)</a:t>
                      </a: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Default alarm sounds</a:t>
                      </a:r>
                    </a:p>
                  </a:txBody>
                  <a:tcPr marL="109728" marT="73152" marB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000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400" b="1">
                          <a:solidFill>
                            <a:srgbClr val="17303F"/>
                          </a:solidFill>
                          <a:latin typeface="Cambria"/>
                        </a:defRPr>
                      </a:pPr>
                      <a:r>
                        <a:rPr lang="en-US"/>
                        <a:t>Silver</a:t>
                      </a:r>
                      <a:endParaRPr dirty="0"/>
                    </a:p>
                    <a:p>
                      <a:pPr>
                        <a:defRPr sz="1150" b="0">
                          <a:solidFill>
                            <a:srgbClr val="5C7182"/>
                          </a:solidFill>
                          <a:latin typeface="Calibri"/>
                        </a:defRPr>
                      </a:pPr>
                      <a:r>
                        <a:rPr dirty="0"/>
                        <a:t>$2.99 / year</a:t>
                      </a:r>
                    </a:p>
                  </a:txBody>
                  <a:tcPr marL="109728" marT="73152" marB="73152" anchor="ctr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50"/>
                        </a:spcAft>
                        <a:buNone/>
                      </a:pPr>
                      <a:r>
                        <a:rPr sz="1050" b="1" i="1" dirty="0">
                          <a:solidFill>
                            <a:srgbClr val="5C7182"/>
                          </a:solidFill>
                          <a:latin typeface="Calibri"/>
                        </a:rPr>
                        <a:t>Everything in Free, plus:</a:t>
                      </a: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Unlimited simultaneous alarms</a:t>
                      </a:r>
                      <a:r>
                        <a:rPr lang="en-US"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 (Location only)</a:t>
                      </a:r>
                      <a:endParaRPr sz="1050" b="0" dirty="0">
                        <a:solidFill>
                          <a:srgbClr val="17303F"/>
                        </a:solidFill>
                        <a:latin typeface="Calibri"/>
                      </a:endParaRP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Full sound library</a:t>
                      </a: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Contact notify (prompted SMS)</a:t>
                      </a: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lang="en-US"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Control over alarm a</a:t>
                      </a: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ctive time windows</a:t>
                      </a:r>
                    </a:p>
                  </a:txBody>
                  <a:tcPr marL="109728" marT="73152" marB="73152" anchor="ctr">
                    <a:solidFill>
                      <a:srgbClr val="EF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000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400" b="1">
                          <a:solidFill>
                            <a:srgbClr val="17303F"/>
                          </a:solidFill>
                          <a:latin typeface="Cambria"/>
                        </a:defRPr>
                      </a:pPr>
                      <a:r>
                        <a:rPr lang="en-US" dirty="0"/>
                        <a:t>Gold</a:t>
                      </a:r>
                      <a:endParaRPr dirty="0"/>
                    </a:p>
                    <a:p>
                      <a:pPr>
                        <a:defRPr sz="1150" b="0">
                          <a:solidFill>
                            <a:srgbClr val="5C7182"/>
                          </a:solidFill>
                          <a:latin typeface="Calibri"/>
                        </a:defRPr>
                      </a:pPr>
                      <a:r>
                        <a:rPr dirty="0"/>
                        <a:t>$6.99 / year</a:t>
                      </a:r>
                    </a:p>
                  </a:txBody>
                  <a:tcPr marL="109728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50"/>
                        </a:spcAft>
                        <a:buNone/>
                      </a:pPr>
                      <a:r>
                        <a:rPr sz="1050" b="1" i="1" dirty="0">
                          <a:solidFill>
                            <a:srgbClr val="5C7182"/>
                          </a:solidFill>
                          <a:latin typeface="Calibri"/>
                        </a:rPr>
                        <a:t>Everything in </a:t>
                      </a:r>
                      <a:r>
                        <a:rPr lang="en-US" sz="1050" b="1" i="1" dirty="0">
                          <a:solidFill>
                            <a:srgbClr val="5C7182"/>
                          </a:solidFill>
                          <a:latin typeface="Calibri"/>
                        </a:rPr>
                        <a:t>Silver</a:t>
                      </a:r>
                      <a:r>
                        <a:rPr sz="1050" b="1" i="1" dirty="0">
                          <a:solidFill>
                            <a:srgbClr val="5C7182"/>
                          </a:solidFill>
                          <a:latin typeface="Calibri"/>
                        </a:rPr>
                        <a:t>, plus:</a:t>
                      </a: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Time-based alarms</a:t>
                      </a: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Transit agency integration + caching</a:t>
                      </a: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Hands-free Auto-SMS / Notify Contacts</a:t>
                      </a: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Repeat &amp; per-day scheduling</a:t>
                      </a:r>
                    </a:p>
                  </a:txBody>
                  <a:tcPr marL="109728" marT="73152" marB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6000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400" b="1">
                          <a:solidFill>
                            <a:srgbClr val="17303F"/>
                          </a:solidFill>
                          <a:latin typeface="Cambria"/>
                        </a:defRPr>
                      </a:pPr>
                      <a:r>
                        <a:rPr lang="en-US" sz="14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Platinum</a:t>
                      </a:r>
                      <a:endParaRPr dirty="0"/>
                    </a:p>
                    <a:p>
                      <a:pPr>
                        <a:defRPr sz="1150" b="0">
                          <a:solidFill>
                            <a:srgbClr val="5C7182"/>
                          </a:solidFill>
                          <a:latin typeface="Calibri"/>
                        </a:defRPr>
                      </a:pPr>
                      <a:r>
                        <a:rPr dirty="0"/>
                        <a:t>$12.99 lifetime</a:t>
                      </a:r>
                    </a:p>
                  </a:txBody>
                  <a:tcPr marL="109728" marT="73152" marB="73152" anchor="ctr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50"/>
                        </a:spcAft>
                        <a:buNone/>
                      </a:pPr>
                      <a:r>
                        <a:rPr sz="1050" b="1" i="1" dirty="0">
                          <a:solidFill>
                            <a:srgbClr val="5C7182"/>
                          </a:solidFill>
                          <a:latin typeface="Calibri"/>
                        </a:rPr>
                        <a:t>Everything </a:t>
                      </a:r>
                      <a:r>
                        <a:rPr sz="1050" b="1" i="1">
                          <a:solidFill>
                            <a:srgbClr val="5C7182"/>
                          </a:solidFill>
                          <a:latin typeface="Calibri"/>
                        </a:rPr>
                        <a:t>in </a:t>
                      </a:r>
                      <a:r>
                        <a:rPr lang="en-US" sz="1050" b="1" i="1">
                          <a:solidFill>
                            <a:srgbClr val="5C7182"/>
                          </a:solidFill>
                          <a:latin typeface="Calibri"/>
                        </a:rPr>
                        <a:t>Glod</a:t>
                      </a:r>
                      <a:r>
                        <a:rPr sz="1050" b="1" i="1">
                          <a:solidFill>
                            <a:srgbClr val="5C7182"/>
                          </a:solidFill>
                          <a:latin typeface="Calibri"/>
                        </a:rPr>
                        <a:t>, </a:t>
                      </a:r>
                      <a:r>
                        <a:rPr sz="1050" b="1" i="1" dirty="0">
                          <a:solidFill>
                            <a:srgbClr val="5C7182"/>
                          </a:solidFill>
                          <a:latin typeface="Calibri"/>
                        </a:rPr>
                        <a:t>plus:</a:t>
                      </a: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Calendar-scan auto-scheduling</a:t>
                      </a: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lang="en-US"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Live alarms, see </a:t>
                      </a:r>
                      <a:r>
                        <a:rPr lang="en-US" sz="1050" dirty="0"/>
                        <a:t>distance/ETA progress tied to your GPS position</a:t>
                      </a:r>
                      <a:endParaRPr sz="1050" b="0" dirty="0">
                        <a:solidFill>
                          <a:srgbClr val="17303F"/>
                        </a:solidFill>
                        <a:latin typeface="Calibri"/>
                      </a:endParaRP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Priority transit feed support</a:t>
                      </a: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Full </a:t>
                      </a:r>
                      <a:r>
                        <a:rPr lang="en-US"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integration support with other Apps  that support </a:t>
                      </a: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Shortcuts</a:t>
                      </a:r>
                      <a:r>
                        <a:rPr lang="en-US"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 </a:t>
                      </a: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+ enhanced Dead Reckoning</a:t>
                      </a:r>
                      <a:r>
                        <a:rPr lang="en-US"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 for Time-based alarms.</a:t>
                      </a:r>
                      <a:endParaRPr sz="1050" b="0" dirty="0">
                        <a:solidFill>
                          <a:srgbClr val="17303F"/>
                        </a:solidFill>
                        <a:latin typeface="Calibri"/>
                      </a:endParaRPr>
                    </a:p>
                  </a:txBody>
                  <a:tcPr marL="109728" marT="73152" marB="73152" anchor="ctr">
                    <a:solidFill>
                      <a:srgbClr val="EF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944100" y="6199631"/>
            <a:ext cx="1698955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dirty="0">
                <a:solidFill>
                  <a:srgbClr val="5C7182"/>
                </a:solidFill>
                <a:latin typeface="Calibri"/>
              </a:rPr>
              <a:t>Prices shown in USD. 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app_icon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A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pp_icon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68580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514600"/>
            <a:ext cx="9997135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mbria"/>
              </a:rPr>
              <a:t>Never Miss Your Stop Again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3429000"/>
            <a:ext cx="889985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50" b="0" i="0">
                <a:solidFill>
                  <a:srgbClr val="B9C6CE"/>
                </a:solidFill>
                <a:latin typeface="Calibri"/>
              </a:rPr>
              <a:t>Set your first location alarm in under a minute — and nap the whole way there.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58487" y="4434840"/>
            <a:ext cx="3474720" cy="566928"/>
          </a:xfrm>
          <a:prstGeom prst="roundRect">
            <a:avLst>
              <a:gd name="adj" fmla="val 50000"/>
            </a:avLst>
          </a:prstGeom>
          <a:solidFill>
            <a:srgbClr val="E8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58487" y="4610582"/>
            <a:ext cx="347472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400" b="1" i="0" dirty="0">
                <a:solidFill>
                  <a:srgbClr val="FFFFFF"/>
                </a:solidFill>
                <a:latin typeface="Calibri"/>
                <a:hlinkClick r:id="rId3"/>
              </a:rPr>
              <a:t>Download GeoNap (iOS device)</a:t>
            </a:r>
            <a:r>
              <a:rPr lang="en-US" sz="1400" b="1" i="0" dirty="0">
                <a:solidFill>
                  <a:srgbClr val="FFFFFF"/>
                </a:solidFill>
                <a:latin typeface="Calibri"/>
              </a:rPr>
              <a:t> **</a:t>
            </a:r>
            <a:endParaRPr sz="14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815AFA-D1BA-67B5-F575-FB3E5A233B36}"/>
              </a:ext>
            </a:extLst>
          </p:cNvPr>
          <p:cNvSpPr txBox="1"/>
          <p:nvPr/>
        </p:nvSpPr>
        <p:spPr>
          <a:xfrm>
            <a:off x="6229349" y="5570220"/>
            <a:ext cx="5702139" cy="99835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  <a:tileRect/>
          </a:gradFill>
        </p:spPr>
        <p:txBody>
          <a:bodyPr wrap="square" lIns="91440" tIns="91440" rIns="91440" bIns="9144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lang="en-US" sz="1700" b="0" i="0" dirty="0">
                <a:latin typeface="Calibri"/>
              </a:rPr>
              <a:t>** </a:t>
            </a:r>
            <a:r>
              <a:rPr lang="en-US" sz="1400" b="0" i="0" dirty="0" err="1">
                <a:latin typeface="Calibri"/>
              </a:rPr>
              <a:t>GeoNap</a:t>
            </a:r>
            <a:r>
              <a:rPr lang="en-US" sz="1400" b="0" i="0" dirty="0">
                <a:latin typeface="Calibri"/>
              </a:rPr>
              <a:t> is available in test mode only. As such, Apple requires installation of an app </a:t>
            </a:r>
            <a:r>
              <a:rPr lang="en-US" sz="1400" b="0" i="0" dirty="0">
                <a:solidFill>
                  <a:srgbClr val="0070C0"/>
                </a:solidFill>
                <a:latin typeface="Calibri"/>
                <a:hlinkClick r:id="rId4"/>
              </a:rPr>
              <a:t>“TestFlight” </a:t>
            </a:r>
            <a:r>
              <a:rPr lang="en-US" sz="1400" b="0" i="0" dirty="0">
                <a:latin typeface="Calibri"/>
              </a:rPr>
              <a:t>on their local iOS device. </a:t>
            </a:r>
            <a:r>
              <a:rPr lang="en-US" sz="1400" b="0" i="0" dirty="0" err="1">
                <a:latin typeface="Calibri"/>
              </a:rPr>
              <a:t>GeoNap</a:t>
            </a:r>
            <a:r>
              <a:rPr lang="en-US" sz="1400" b="0" i="0" dirty="0">
                <a:latin typeface="Calibri"/>
              </a:rPr>
              <a:t> installation, upgrades and feedback is done using the TestFlight application.</a:t>
            </a:r>
            <a:endParaRPr sz="1700" b="0" i="0" dirty="0"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180</TotalTime>
  <Words>1678</Words>
  <Application>Microsoft Macintosh PowerPoint</Application>
  <PresentationFormat>Widescreen</PresentationFormat>
  <Paragraphs>184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Robert Bartis</cp:lastModifiedBy>
  <cp:revision>14</cp:revision>
  <dcterms:created xsi:type="dcterms:W3CDTF">2013-01-27T09:14:16Z</dcterms:created>
  <dcterms:modified xsi:type="dcterms:W3CDTF">2026-08-06T17:11:04Z</dcterms:modified>
  <cp:category/>
</cp:coreProperties>
</file>