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4" r:id="rId17"/>
    <p:sldId id="271" r:id="rId18"/>
    <p:sldId id="273" r:id="rId19"/>
    <p:sldId id="272" r:id="rId20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31348"/>
    <p:restoredTop sz="94721"/>
  </p:normalViewPr>
  <p:slideViewPr>
    <p:cSldViewPr snapToGrid="0" snapToObjects="1">
      <p:cViewPr>
        <p:scale>
          <a:sx n="140" d="100"/>
          <a:sy n="140" d="100"/>
        </p:scale>
        <p:origin x="144" y="-112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9/16/26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9/16/26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9/16/26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9/16/26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9/16/26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9/16/26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9/16/26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9/16/26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9/16/26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9/16/26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9/16/26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9/16/26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.png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.png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.png"/><Relationship Id="rId5" Type="http://schemas.openxmlformats.org/officeDocument/2006/relationships/image" Target="../media/image17.png"/><Relationship Id="rId4" Type="http://schemas.openxmlformats.org/officeDocument/2006/relationships/image" Target="../media/image6.png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hyperlink" Target="https://testflight.apple.com/join/xANBX3gT" TargetMode="External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hyperlink" Target="https://developer.apple.com/testflight/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3A5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Connector 1"/>
          <p:cNvCxnSpPr/>
          <p:nvPr/>
        </p:nvCxnSpPr>
        <p:spPr>
          <a:xfrm>
            <a:off x="9692640" y="914400"/>
            <a:ext cx="502920" cy="502920"/>
          </a:xfrm>
          <a:prstGeom prst="line">
            <a:avLst/>
          </a:prstGeom>
          <a:ln w="27940">
            <a:solidFill>
              <a:srgbClr val="C89E28"/>
            </a:solidFill>
            <a:prstDash val="sysDot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" name="Connector 2"/>
          <p:cNvCxnSpPr/>
          <p:nvPr/>
        </p:nvCxnSpPr>
        <p:spPr>
          <a:xfrm>
            <a:off x="10195560" y="1417320"/>
            <a:ext cx="365760" cy="640080"/>
          </a:xfrm>
          <a:prstGeom prst="line">
            <a:avLst/>
          </a:prstGeom>
          <a:ln w="27940">
            <a:solidFill>
              <a:srgbClr val="C89E28"/>
            </a:solidFill>
            <a:prstDash val="sysDot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10561320" y="2057400"/>
            <a:ext cx="182880" cy="731520"/>
          </a:xfrm>
          <a:prstGeom prst="line">
            <a:avLst/>
          </a:prstGeom>
          <a:ln w="27940">
            <a:solidFill>
              <a:srgbClr val="C89E28"/>
            </a:solidFill>
            <a:prstDash val="sysDot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Oval 4"/>
          <p:cNvSpPr/>
          <p:nvPr/>
        </p:nvSpPr>
        <p:spPr>
          <a:xfrm>
            <a:off x="9646919" y="868680"/>
            <a:ext cx="91440" cy="91440"/>
          </a:xfrm>
          <a:prstGeom prst="ellipse">
            <a:avLst/>
          </a:prstGeom>
          <a:solidFill>
            <a:srgbClr val="F5C8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Oval 5"/>
          <p:cNvSpPr/>
          <p:nvPr/>
        </p:nvSpPr>
        <p:spPr>
          <a:xfrm>
            <a:off x="10149840" y="1371600"/>
            <a:ext cx="91440" cy="91440"/>
          </a:xfrm>
          <a:prstGeom prst="ellipse">
            <a:avLst/>
          </a:prstGeom>
          <a:solidFill>
            <a:srgbClr val="F5C8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Oval 6"/>
          <p:cNvSpPr/>
          <p:nvPr/>
        </p:nvSpPr>
        <p:spPr>
          <a:xfrm>
            <a:off x="10515600" y="2011680"/>
            <a:ext cx="91440" cy="91440"/>
          </a:xfrm>
          <a:prstGeom prst="ellipse">
            <a:avLst/>
          </a:prstGeom>
          <a:solidFill>
            <a:srgbClr val="F5C8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Oval 7"/>
          <p:cNvSpPr/>
          <p:nvPr/>
        </p:nvSpPr>
        <p:spPr>
          <a:xfrm>
            <a:off x="10698480" y="2743200"/>
            <a:ext cx="91440" cy="91440"/>
          </a:xfrm>
          <a:prstGeom prst="ellipse">
            <a:avLst/>
          </a:prstGeom>
          <a:solidFill>
            <a:srgbClr val="F5C8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ounded Rectangle 8"/>
          <p:cNvSpPr/>
          <p:nvPr/>
        </p:nvSpPr>
        <p:spPr>
          <a:xfrm>
            <a:off x="5012283" y="420623"/>
            <a:ext cx="2167127" cy="2167127"/>
          </a:xfrm>
          <a:prstGeom prst="roundRect">
            <a:avLst>
              <a:gd name="adj" fmla="val 22000"/>
            </a:avLst>
          </a:prstGeom>
          <a:solidFill>
            <a:srgbClr val="0F2836"/>
          </a:solidFill>
          <a:ln>
            <a:noFill/>
          </a:ln>
          <a:effectLst>
            <a:outerShdw blurRad="90000" dist="30000" dir="5400000" rotWithShape="0">
              <a:srgbClr val="0F2836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0" name="Picture 9" descr="app_icon_roun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58587" y="566928"/>
            <a:ext cx="1874519" cy="1874519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0" y="2697480"/>
            <a:ext cx="12191695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400" b="1" i="0" spc="220">
                <a:solidFill>
                  <a:srgbClr val="F5C842"/>
                </a:solidFill>
                <a:latin typeface="Calibri"/>
              </a:rPr>
              <a:t>GEONAP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3063240"/>
            <a:ext cx="10728655" cy="1371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3000"/>
              </a:lnSpc>
            </a:pPr>
            <a:r>
              <a:rPr sz="4400" b="1" i="0" dirty="0">
                <a:solidFill>
                  <a:srgbClr val="FFFFFF"/>
                </a:solidFill>
                <a:latin typeface="Cambria"/>
              </a:rPr>
              <a:t>Wake Up Where You Need To — Not When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463040" y="4434840"/>
            <a:ext cx="9265615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1700" b="0" i="0" dirty="0">
                <a:solidFill>
                  <a:srgbClr val="B9C6CE"/>
                </a:solidFill>
                <a:latin typeface="Calibri"/>
              </a:rPr>
              <a:t>The alarm that knows where you're going, so you can finally relax on the way there.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541367" y="5349240"/>
            <a:ext cx="3108960" cy="457200"/>
          </a:xfrm>
          <a:prstGeom prst="roundRect">
            <a:avLst>
              <a:gd name="adj" fmla="val 50000"/>
            </a:avLst>
          </a:prstGeom>
          <a:solidFill>
            <a:srgbClr val="0F28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4541367" y="5349240"/>
            <a:ext cx="3108960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150" b="1" i="0" dirty="0">
                <a:solidFill>
                  <a:srgbClr val="F5C842"/>
                </a:solidFill>
                <a:latin typeface="Calibri"/>
              </a:rPr>
              <a:t>For Commuters, Travelers</a:t>
            </a:r>
            <a:r>
              <a:rPr lang="en-US" sz="1150" b="1" i="0" dirty="0">
                <a:solidFill>
                  <a:srgbClr val="F5C842"/>
                </a:solidFill>
                <a:latin typeface="Calibri"/>
              </a:rPr>
              <a:t> &amp;</a:t>
            </a:r>
            <a:r>
              <a:rPr sz="1150" b="1" i="0" dirty="0">
                <a:solidFill>
                  <a:srgbClr val="F5C842"/>
                </a:solidFill>
                <a:latin typeface="Calibri"/>
              </a:rPr>
              <a:t> Anyone Who Naps On the Move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1323015" y="6025896"/>
            <a:ext cx="603504" cy="603504"/>
          </a:xfrm>
          <a:prstGeom prst="roundRect">
            <a:avLst>
              <a:gd name="adj" fmla="val 32000"/>
            </a:avLst>
          </a:prstGeom>
          <a:solidFill>
            <a:srgbClr val="FFFFFF"/>
          </a:solidFill>
          <a:ln>
            <a:noFill/>
          </a:ln>
          <a:effectLst>
            <a:outerShdw blurRad="90000" dist="30000" dir="5400000" rotWithShape="0">
              <a:srgbClr val="0F2836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7" name="Picture 16" descr="app_icon_roun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368735" y="6071616"/>
            <a:ext cx="512064" cy="512064"/>
          </a:xfrm>
          <a:prstGeom prst="rect">
            <a:avLst/>
          </a:prstGeom>
        </p:spPr>
      </p:pic>
      <p:sp>
        <p:nvSpPr>
          <p:cNvPr id="18" name="TextBox 17">
            <a:extLst>
              <a:ext uri="{FF2B5EF4-FFF2-40B4-BE49-F238E27FC236}">
                <a16:creationId xmlns:a16="http://schemas.microsoft.com/office/drawing/2014/main" id="{0B7F79B2-7A27-4C1D-780B-DF253D78ACE1}"/>
              </a:ext>
            </a:extLst>
          </p:cNvPr>
          <p:cNvSpPr txBox="1"/>
          <p:nvPr/>
        </p:nvSpPr>
        <p:spPr>
          <a:xfrm>
            <a:off x="311201" y="6406708"/>
            <a:ext cx="1197559" cy="17697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r>
              <a:rPr lang="en-US" sz="1150" b="1" i="0" dirty="0">
                <a:solidFill>
                  <a:srgbClr val="F5C842"/>
                </a:solidFill>
                <a:latin typeface="Calibri"/>
              </a:rPr>
              <a:t>1.180-20260911</a:t>
            </a:r>
            <a:endParaRPr sz="1150" b="1" i="0" dirty="0">
              <a:solidFill>
                <a:srgbClr val="F5C842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7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457200"/>
            <a:ext cx="73152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1" i="0" spc="160">
                <a:solidFill>
                  <a:srgbClr val="C89E28"/>
                </a:solidFill>
                <a:latin typeface="Calibri"/>
              </a:rPr>
              <a:t>THE PROBLEM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49808"/>
            <a:ext cx="9997135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2000"/>
              </a:lnSpc>
            </a:pPr>
            <a:r>
              <a:rPr sz="3000" b="1" i="0">
                <a:solidFill>
                  <a:srgbClr val="1A3A52"/>
                </a:solidFill>
                <a:latin typeface="Cambria"/>
              </a:rPr>
              <a:t>Falling Asleep Feels Risky When You're Traveling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874519"/>
            <a:ext cx="6720840" cy="42062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182880" indent="-182880" algn="l">
              <a:lnSpc>
                <a:spcPct val="118000"/>
              </a:lnSpc>
              <a:spcAft>
                <a:spcPts val="1400"/>
              </a:spcAft>
              <a:buClr>
                <a:srgbClr val="E8282B"/>
              </a:buClr>
              <a:buFont typeface="Arial"/>
              <a:buChar char="•"/>
            </a:pPr>
            <a:r>
              <a:rPr sz="1550" b="1">
                <a:solidFill>
                  <a:srgbClr val="17303F"/>
                </a:solidFill>
                <a:latin typeface="Calibri"/>
              </a:rPr>
              <a:t>You can't count on the station. </a:t>
            </a:r>
            <a:r>
              <a:rPr sz="1550" b="0">
                <a:solidFill>
                  <a:srgbClr val="17303F"/>
                </a:solidFill>
                <a:latin typeface="Calibri"/>
              </a:rPr>
              <a:t>Broken departure boards, garbled PA announcements, or signage in a language you don't read make it easy to miss your stop.</a:t>
            </a:r>
          </a:p>
          <a:p>
            <a:pPr marL="182880" indent="-182880" algn="l">
              <a:lnSpc>
                <a:spcPct val="118000"/>
              </a:lnSpc>
              <a:spcAft>
                <a:spcPts val="1400"/>
              </a:spcAft>
              <a:buClr>
                <a:srgbClr val="E8282B"/>
              </a:buClr>
              <a:buFont typeface="Arial"/>
              <a:buChar char="•"/>
            </a:pPr>
            <a:r>
              <a:rPr sz="1550" b="1">
                <a:solidFill>
                  <a:srgbClr val="17303F"/>
                </a:solidFill>
                <a:latin typeface="Calibri"/>
              </a:rPr>
              <a:t>Staring at a map isn't restful. </a:t>
            </a:r>
            <a:r>
              <a:rPr sz="1550" b="0">
                <a:solidFill>
                  <a:srgbClr val="17303F"/>
                </a:solidFill>
                <a:latin typeface="Calibri"/>
              </a:rPr>
              <a:t>Watching a blue dot inch toward your destination defeats the point of dozing off.</a:t>
            </a:r>
          </a:p>
          <a:p>
            <a:pPr marL="182880" indent="-182880" algn="l">
              <a:lnSpc>
                <a:spcPct val="118000"/>
              </a:lnSpc>
              <a:spcAft>
                <a:spcPts val="1400"/>
              </a:spcAft>
              <a:buClr>
                <a:srgbClr val="E8282B"/>
              </a:buClr>
              <a:buFont typeface="Arial"/>
              <a:buChar char="•"/>
            </a:pPr>
            <a:r>
              <a:rPr sz="1550" b="1">
                <a:solidFill>
                  <a:srgbClr val="17303F"/>
                </a:solidFill>
                <a:latin typeface="Calibri"/>
              </a:rPr>
              <a:t>Time-based alarms don't know your trip. </a:t>
            </a:r>
            <a:r>
              <a:rPr sz="1550" b="0">
                <a:solidFill>
                  <a:srgbClr val="17303F"/>
                </a:solidFill>
                <a:latin typeface="Calibri"/>
              </a:rPr>
              <a:t>Traffic, delays, and stops all change your real arrival time — a clock alarm can't adjust.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818120" y="1417320"/>
            <a:ext cx="3566160" cy="4709160"/>
          </a:xfrm>
          <a:prstGeom prst="roundRect">
            <a:avLst>
              <a:gd name="adj" fmla="val 6000"/>
            </a:avLst>
          </a:prstGeom>
          <a:solidFill>
            <a:srgbClr val="1A3A52"/>
          </a:solidFill>
          <a:ln>
            <a:noFill/>
          </a:ln>
          <a:effectLst>
            <a:outerShdw blurRad="90000" dist="30000" dir="5400000" rotWithShape="0">
              <a:srgbClr val="0F2836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Oval 5"/>
          <p:cNvSpPr/>
          <p:nvPr/>
        </p:nvSpPr>
        <p:spPr>
          <a:xfrm>
            <a:off x="8892540" y="2080260"/>
            <a:ext cx="1417320" cy="1417320"/>
          </a:xfrm>
          <a:prstGeom prst="ellipse">
            <a:avLst/>
          </a:prstGeom>
          <a:solidFill>
            <a:srgbClr val="0F28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7" name="Picture 6" descr="moon_F5C84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232696" y="2420416"/>
            <a:ext cx="737006" cy="737006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8183880" y="3794760"/>
            <a:ext cx="2834640" cy="21031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30000"/>
              </a:lnSpc>
            </a:pPr>
            <a:r>
              <a:rPr sz="1300" b="0" i="0">
                <a:solidFill>
                  <a:srgbClr val="B9C6CE"/>
                </a:solidFill>
                <a:latin typeface="Calibri"/>
              </a:rPr>
              <a:t>GeoNap replaces the clock with your location — the alarm that actually knows where you're going.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1323015" y="6025896"/>
            <a:ext cx="603504" cy="603504"/>
          </a:xfrm>
          <a:prstGeom prst="roundRect">
            <a:avLst>
              <a:gd name="adj" fmla="val 32000"/>
            </a:avLst>
          </a:prstGeom>
          <a:solidFill>
            <a:srgbClr val="FFFFFF"/>
          </a:solidFill>
          <a:ln>
            <a:noFill/>
          </a:ln>
          <a:effectLst>
            <a:outerShdw blurRad="90000" dist="30000" dir="5400000" rotWithShape="0">
              <a:srgbClr val="0F2836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0" name="Picture 9" descr="app_icon_roun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368735" y="6071616"/>
            <a:ext cx="512064" cy="512064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502920" y="6455664"/>
            <a:ext cx="45720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0" i="0">
                <a:solidFill>
                  <a:srgbClr val="5C7182"/>
                </a:solidFill>
                <a:latin typeface="Calibri"/>
              </a:rPr>
              <a:t>GeoNap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7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457200"/>
            <a:ext cx="73152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1" i="0" spc="160">
                <a:solidFill>
                  <a:srgbClr val="C89E28"/>
                </a:solidFill>
                <a:latin typeface="Calibri"/>
              </a:rPr>
              <a:t>HOW IT WORKS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49808"/>
            <a:ext cx="9997135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2000"/>
              </a:lnSpc>
            </a:pPr>
            <a:r>
              <a:rPr sz="3000" b="1" i="0">
                <a:solidFill>
                  <a:srgbClr val="1A3A52"/>
                </a:solidFill>
                <a:latin typeface="Cambria"/>
              </a:rPr>
              <a:t>Set It Once. GeoNap Takes It From There.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1362456" y="3246120"/>
            <a:ext cx="4422495" cy="0"/>
          </a:xfrm>
          <a:prstGeom prst="line">
            <a:avLst/>
          </a:prstGeom>
          <a:ln w="33020">
            <a:solidFill>
              <a:srgbClr val="C89E28"/>
            </a:solidFill>
            <a:prstDash val="sysDot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6406743" y="3246120"/>
            <a:ext cx="4422496" cy="0"/>
          </a:xfrm>
          <a:prstGeom prst="line">
            <a:avLst/>
          </a:prstGeom>
          <a:ln w="33020">
            <a:solidFill>
              <a:srgbClr val="C89E28"/>
            </a:solidFill>
            <a:prstDash val="sysDot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Oval 5"/>
          <p:cNvSpPr/>
          <p:nvPr/>
        </p:nvSpPr>
        <p:spPr>
          <a:xfrm>
            <a:off x="740663" y="2935224"/>
            <a:ext cx="621792" cy="621792"/>
          </a:xfrm>
          <a:prstGeom prst="ellipse">
            <a:avLst/>
          </a:prstGeom>
          <a:solidFill>
            <a:srgbClr val="1A3A52"/>
          </a:solidFill>
          <a:ln>
            <a:noFill/>
          </a:ln>
          <a:effectLst>
            <a:outerShdw blurRad="90000" dist="30000" dir="5400000" rotWithShape="0">
              <a:srgbClr val="0F2836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740663" y="2935224"/>
            <a:ext cx="621792" cy="62179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2000" b="1" i="0">
                <a:solidFill>
                  <a:srgbClr val="F5C842"/>
                </a:solidFill>
                <a:latin typeface="Cambria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3749039"/>
            <a:ext cx="2331720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5000"/>
              </a:lnSpc>
            </a:pPr>
            <a:r>
              <a:rPr sz="1400" b="1" i="0">
                <a:solidFill>
                  <a:srgbClr val="1A3A52"/>
                </a:solidFill>
                <a:latin typeface="Cambria"/>
              </a:rPr>
              <a:t>Pin Your Stop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4233672"/>
            <a:ext cx="2331720" cy="1554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1150" b="0" i="0">
                <a:solidFill>
                  <a:srgbClr val="5C7182"/>
                </a:solidFill>
                <a:latin typeface="Calibri"/>
              </a:rPr>
              <a:t>Drop a pin on any address, station, or transit stop — or search for it by name.</a:t>
            </a:r>
          </a:p>
        </p:txBody>
      </p:sp>
      <p:sp>
        <p:nvSpPr>
          <p:cNvPr id="10" name="Oval 9"/>
          <p:cNvSpPr/>
          <p:nvPr/>
        </p:nvSpPr>
        <p:spPr>
          <a:xfrm>
            <a:off x="5784951" y="2935224"/>
            <a:ext cx="621792" cy="621792"/>
          </a:xfrm>
          <a:prstGeom prst="ellipse">
            <a:avLst/>
          </a:prstGeom>
          <a:solidFill>
            <a:srgbClr val="1A3A52"/>
          </a:solidFill>
          <a:ln>
            <a:noFill/>
          </a:ln>
          <a:effectLst>
            <a:outerShdw blurRad="90000" dist="30000" dir="5400000" rotWithShape="0">
              <a:srgbClr val="0F2836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5784951" y="2935224"/>
            <a:ext cx="621792" cy="62179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2000" b="1" i="0">
                <a:solidFill>
                  <a:srgbClr val="F5C842"/>
                </a:solidFill>
                <a:latin typeface="Cambria"/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929987" y="3749039"/>
            <a:ext cx="2331720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5000"/>
              </a:lnSpc>
            </a:pPr>
            <a:r>
              <a:rPr sz="1400" b="1" i="0">
                <a:solidFill>
                  <a:srgbClr val="1A3A52"/>
                </a:solidFill>
                <a:latin typeface="Cambria"/>
              </a:rPr>
              <a:t>Nap, Ride, Relax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929987" y="4233672"/>
            <a:ext cx="2331720" cy="1554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1150" b="0" i="0">
                <a:solidFill>
                  <a:srgbClr val="5C7182"/>
                </a:solidFill>
                <a:latin typeface="Calibri"/>
              </a:rPr>
              <a:t>GeoNap quietly tracks your location in the background — no need to keep the app open.</a:t>
            </a:r>
          </a:p>
        </p:txBody>
      </p:sp>
      <p:sp>
        <p:nvSpPr>
          <p:cNvPr id="14" name="Oval 13"/>
          <p:cNvSpPr/>
          <p:nvPr/>
        </p:nvSpPr>
        <p:spPr>
          <a:xfrm>
            <a:off x="10829239" y="2935224"/>
            <a:ext cx="621792" cy="621792"/>
          </a:xfrm>
          <a:prstGeom prst="ellipse">
            <a:avLst/>
          </a:prstGeom>
          <a:solidFill>
            <a:srgbClr val="1A3A52"/>
          </a:solidFill>
          <a:ln>
            <a:noFill/>
          </a:ln>
          <a:effectLst>
            <a:outerShdw blurRad="90000" dist="30000" dir="5400000" rotWithShape="0">
              <a:srgbClr val="0F2836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10829239" y="2935224"/>
            <a:ext cx="621792" cy="62179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2000" b="1" i="0">
                <a:solidFill>
                  <a:srgbClr val="F5C842"/>
                </a:solidFill>
                <a:latin typeface="Cambria"/>
              </a:rP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357055" y="3749039"/>
            <a:ext cx="2331720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5000"/>
              </a:lnSpc>
            </a:pPr>
            <a:r>
              <a:rPr sz="1400" b="1" i="0">
                <a:solidFill>
                  <a:srgbClr val="1A3A52"/>
                </a:solidFill>
                <a:latin typeface="Cambria"/>
              </a:rPr>
              <a:t>Wake Up Right On Time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357055" y="4233672"/>
            <a:ext cx="2331720" cy="1554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1150" b="0" i="0">
                <a:solidFill>
                  <a:srgbClr val="5C7182"/>
                </a:solidFill>
                <a:latin typeface="Calibri"/>
              </a:rPr>
              <a:t>A full-screen alarm fires the moment you arrive or leave — it cuts through silent mode.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11323015" y="6025896"/>
            <a:ext cx="603504" cy="603504"/>
          </a:xfrm>
          <a:prstGeom prst="roundRect">
            <a:avLst>
              <a:gd name="adj" fmla="val 32000"/>
            </a:avLst>
          </a:prstGeom>
          <a:solidFill>
            <a:srgbClr val="FFFFFF"/>
          </a:solidFill>
          <a:ln>
            <a:noFill/>
          </a:ln>
          <a:effectLst>
            <a:outerShdw blurRad="90000" dist="30000" dir="5400000" rotWithShape="0">
              <a:srgbClr val="0F2836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9" name="Picture 18" descr="app_icon_roun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368735" y="6071616"/>
            <a:ext cx="512064" cy="512064"/>
          </a:xfrm>
          <a:prstGeom prst="rect">
            <a:avLst/>
          </a:prstGeom>
        </p:spPr>
      </p:pic>
      <p:sp>
        <p:nvSpPr>
          <p:cNvPr id="20" name="TextBox 19"/>
          <p:cNvSpPr txBox="1"/>
          <p:nvPr/>
        </p:nvSpPr>
        <p:spPr>
          <a:xfrm>
            <a:off x="502920" y="6455664"/>
            <a:ext cx="45720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0" i="0">
                <a:solidFill>
                  <a:srgbClr val="5C7182"/>
                </a:solidFill>
                <a:latin typeface="Calibri"/>
              </a:rPr>
              <a:t>GeoNap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7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457200"/>
            <a:ext cx="73152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1" i="0" spc="160">
                <a:solidFill>
                  <a:srgbClr val="C89E28"/>
                </a:solidFill>
                <a:latin typeface="Calibri"/>
              </a:rPr>
              <a:t>CREATING AN ALARM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49808"/>
            <a:ext cx="9997135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2000"/>
              </a:lnSpc>
            </a:pPr>
            <a:r>
              <a:rPr sz="3000" b="1" i="0">
                <a:solidFill>
                  <a:srgbClr val="1A3A52"/>
                </a:solidFill>
                <a:latin typeface="Cambria"/>
              </a:rPr>
              <a:t>Pin a Spot, or Pick a Transit Stop — Your Choice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874519"/>
            <a:ext cx="6720840" cy="42062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182880" indent="-182880" algn="l">
              <a:lnSpc>
                <a:spcPct val="118000"/>
              </a:lnSpc>
              <a:spcAft>
                <a:spcPts val="1400"/>
              </a:spcAft>
              <a:buClr>
                <a:srgbClr val="E8282B"/>
              </a:buClr>
              <a:buFont typeface="Arial"/>
              <a:buChar char="•"/>
            </a:pPr>
            <a:r>
              <a:rPr sz="1550" b="1">
                <a:solidFill>
                  <a:srgbClr val="17303F"/>
                </a:solidFill>
                <a:latin typeface="Calibri"/>
              </a:rPr>
              <a:t>Location Alarm — </a:t>
            </a:r>
            <a:r>
              <a:rPr sz="1550" b="0">
                <a:solidFill>
                  <a:srgbClr val="17303F"/>
                </a:solidFill>
                <a:latin typeface="Calibri"/>
              </a:rPr>
              <a:t>search any address or drop a pin anywhere in the world, down to exact GPS coordinates.</a:t>
            </a:r>
          </a:p>
          <a:p>
            <a:pPr marL="182880" indent="-182880" algn="l">
              <a:lnSpc>
                <a:spcPct val="118000"/>
              </a:lnSpc>
              <a:spcAft>
                <a:spcPts val="1400"/>
              </a:spcAft>
              <a:buClr>
                <a:srgbClr val="E8282B"/>
              </a:buClr>
              <a:buFont typeface="Arial"/>
              <a:buChar char="•"/>
            </a:pPr>
            <a:r>
              <a:rPr sz="1550" b="1">
                <a:solidFill>
                  <a:srgbClr val="17303F"/>
                </a:solidFill>
                <a:latin typeface="Calibri"/>
              </a:rPr>
              <a:t>Transit Alarm — </a:t>
            </a:r>
            <a:r>
              <a:rPr sz="1550" b="0">
                <a:solidFill>
                  <a:srgbClr val="17303F"/>
                </a:solidFill>
                <a:latin typeface="Calibri"/>
              </a:rPr>
              <a:t>pick your agency, route, and stop from live schedules — no coordinates needed.</a:t>
            </a:r>
          </a:p>
          <a:p>
            <a:pPr marL="182880" indent="-182880" algn="l">
              <a:lnSpc>
                <a:spcPct val="118000"/>
              </a:lnSpc>
              <a:spcAft>
                <a:spcPts val="1400"/>
              </a:spcAft>
              <a:buClr>
                <a:srgbClr val="E8282B"/>
              </a:buClr>
              <a:buFont typeface="Arial"/>
              <a:buChar char="•"/>
            </a:pPr>
            <a:r>
              <a:rPr sz="1550" b="1">
                <a:solidFill>
                  <a:srgbClr val="17303F"/>
                </a:solidFill>
                <a:latin typeface="Calibri"/>
              </a:rPr>
              <a:t>Radius, your way — </a:t>
            </a:r>
            <a:r>
              <a:rPr sz="1550" b="0">
                <a:solidFill>
                  <a:srgbClr val="17303F"/>
                </a:solidFill>
                <a:latin typeface="Calibri"/>
              </a:rPr>
              <a:t>a simple slider sets how close you need to be before the alarm fires.</a:t>
            </a:r>
          </a:p>
          <a:p>
            <a:pPr marL="182880" indent="-182880" algn="l">
              <a:lnSpc>
                <a:spcPct val="118000"/>
              </a:lnSpc>
              <a:spcAft>
                <a:spcPts val="1400"/>
              </a:spcAft>
              <a:buClr>
                <a:srgbClr val="E8282B"/>
              </a:buClr>
              <a:buFont typeface="Arial"/>
              <a:buChar char="•"/>
            </a:pPr>
            <a:r>
              <a:rPr sz="1550" b="1">
                <a:solidFill>
                  <a:srgbClr val="17303F"/>
                </a:solidFill>
                <a:latin typeface="Calibri"/>
              </a:rPr>
              <a:t>Save in seconds — </a:t>
            </a:r>
            <a:r>
              <a:rPr sz="1550" b="0">
                <a:solidFill>
                  <a:srgbClr val="17303F"/>
                </a:solidFill>
                <a:latin typeface="Calibri"/>
              </a:rPr>
              <a:t>name it, choose arrival or departure, and you're covered for every future trip.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818120" y="1417320"/>
            <a:ext cx="3566160" cy="4709160"/>
          </a:xfrm>
          <a:prstGeom prst="roundRect">
            <a:avLst>
              <a:gd name="adj" fmla="val 6000"/>
            </a:avLst>
          </a:prstGeom>
          <a:solidFill>
            <a:srgbClr val="1A3A52"/>
          </a:solidFill>
          <a:ln>
            <a:noFill/>
          </a:ln>
          <a:effectLst>
            <a:outerShdw blurRad="90000" dist="30000" dir="5400000" rotWithShape="0">
              <a:srgbClr val="0F2836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Oval 5"/>
          <p:cNvSpPr/>
          <p:nvPr/>
        </p:nvSpPr>
        <p:spPr>
          <a:xfrm>
            <a:off x="8892540" y="2080260"/>
            <a:ext cx="1417320" cy="1417320"/>
          </a:xfrm>
          <a:prstGeom prst="ellipse">
            <a:avLst/>
          </a:prstGeom>
          <a:solidFill>
            <a:srgbClr val="0F28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7" name="Picture 6" descr="pin_F5C84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232696" y="2420416"/>
            <a:ext cx="737006" cy="737006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8183880" y="3794760"/>
            <a:ext cx="2834640" cy="21031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30000"/>
              </a:lnSpc>
            </a:pPr>
            <a:r>
              <a:rPr sz="1300" b="0" i="0">
                <a:solidFill>
                  <a:srgbClr val="B9C6CE"/>
                </a:solidFill>
                <a:latin typeface="Calibri"/>
              </a:rPr>
              <a:t>Up to 20 active alarms at once on paid tiers — plenty for a daily commute plus every stop on a trip. Free tier includes one active alarm.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1323015" y="6025896"/>
            <a:ext cx="603504" cy="603504"/>
          </a:xfrm>
          <a:prstGeom prst="roundRect">
            <a:avLst>
              <a:gd name="adj" fmla="val 32000"/>
            </a:avLst>
          </a:prstGeom>
          <a:solidFill>
            <a:srgbClr val="FFFFFF"/>
          </a:solidFill>
          <a:ln>
            <a:noFill/>
          </a:ln>
          <a:effectLst>
            <a:outerShdw blurRad="90000" dist="30000" dir="5400000" rotWithShape="0">
              <a:srgbClr val="0F2836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0" name="Picture 9" descr="app_icon_roun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368735" y="6071616"/>
            <a:ext cx="512064" cy="512064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502920" y="6455664"/>
            <a:ext cx="45720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0" i="0">
                <a:solidFill>
                  <a:srgbClr val="5C7182"/>
                </a:solidFill>
                <a:latin typeface="Calibri"/>
              </a:rPr>
              <a:t>GeoNap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7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457200"/>
            <a:ext cx="73152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1" i="0" spc="160">
                <a:solidFill>
                  <a:srgbClr val="C89E28"/>
                </a:solidFill>
                <a:latin typeface="Calibri"/>
              </a:rPr>
              <a:t>PEACE OF MIND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49808"/>
            <a:ext cx="9997135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2000"/>
              </a:lnSpc>
            </a:pPr>
            <a:r>
              <a:rPr sz="3000" b="1" i="0">
                <a:solidFill>
                  <a:srgbClr val="1A3A52"/>
                </a:solidFill>
                <a:latin typeface="Cambria"/>
              </a:rPr>
              <a:t>Travel Like Someone's Watching Your Stop For You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874519"/>
            <a:ext cx="5364327" cy="214884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>
            <a:noFill/>
          </a:ln>
          <a:effectLst>
            <a:outerShdw blurRad="90000" dist="30000" dir="5400000" rotWithShape="0">
              <a:srgbClr val="0F2836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Oval 4"/>
          <p:cNvSpPr/>
          <p:nvPr/>
        </p:nvSpPr>
        <p:spPr>
          <a:xfrm>
            <a:off x="822960" y="2619756"/>
            <a:ext cx="658368" cy="658368"/>
          </a:xfrm>
          <a:prstGeom prst="ellipse">
            <a:avLst/>
          </a:prstGeom>
          <a:solidFill>
            <a:srgbClr val="1A3A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6" name="Picture 5" descr="bell_F5C84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0968" y="2777764"/>
            <a:ext cx="342351" cy="342351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1645919" y="2075688"/>
            <a:ext cx="4038447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50" b="1" i="0">
                <a:solidFill>
                  <a:srgbClr val="1A3A52"/>
                </a:solidFill>
                <a:latin typeface="Cambria"/>
              </a:rPr>
              <a:t>Nap Without Worry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645919" y="2441448"/>
            <a:ext cx="4038447" cy="1417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1200" b="0" i="0">
                <a:solidFill>
                  <a:srgbClr val="5C7182"/>
                </a:solidFill>
                <a:latin typeface="Calibri"/>
              </a:rPr>
              <a:t>Close your eyes knowing GeoNap will wake you at your stop, every single time.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78727" y="1874519"/>
            <a:ext cx="5364327" cy="214884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>
            <a:noFill/>
          </a:ln>
          <a:effectLst>
            <a:outerShdw blurRad="90000" dist="30000" dir="5400000" rotWithShape="0">
              <a:srgbClr val="0F2836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Oval 9"/>
          <p:cNvSpPr/>
          <p:nvPr/>
        </p:nvSpPr>
        <p:spPr>
          <a:xfrm>
            <a:off x="6553047" y="2619756"/>
            <a:ext cx="658368" cy="658368"/>
          </a:xfrm>
          <a:prstGeom prst="ellipse">
            <a:avLst/>
          </a:prstGeom>
          <a:solidFill>
            <a:srgbClr val="1A3A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1" name="Picture 10" descr="pin_F5C84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11055" y="2777764"/>
            <a:ext cx="342351" cy="342351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7376007" y="2075688"/>
            <a:ext cx="4038447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50" b="1" i="0">
                <a:solidFill>
                  <a:srgbClr val="1A3A52"/>
                </a:solidFill>
                <a:latin typeface="Cambria"/>
              </a:rPr>
              <a:t>Never Miss Your Stop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76007" y="2441448"/>
            <a:ext cx="4038447" cy="1417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1200" b="0" i="0">
                <a:solidFill>
                  <a:srgbClr val="5C7182"/>
                </a:solidFill>
                <a:latin typeface="Calibri"/>
              </a:rPr>
              <a:t>GeoNap runs on your phone's own location, not the station's screens or speakers — broken displays, garbled announcements, or signs in a language you don't read don't matter.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48640" y="4343400"/>
            <a:ext cx="5364327" cy="214884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>
            <a:noFill/>
          </a:ln>
          <a:effectLst>
            <a:outerShdw blurRad="90000" dist="30000" dir="5400000" rotWithShape="0">
              <a:srgbClr val="0F2836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Oval 14"/>
          <p:cNvSpPr/>
          <p:nvPr/>
        </p:nvSpPr>
        <p:spPr>
          <a:xfrm>
            <a:off x="822960" y="5088636"/>
            <a:ext cx="658368" cy="658368"/>
          </a:xfrm>
          <a:prstGeom prst="ellipse">
            <a:avLst/>
          </a:prstGeom>
          <a:solidFill>
            <a:srgbClr val="1A3A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6" name="Picture 15" descr="message_F5C842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80968" y="5246644"/>
            <a:ext cx="342351" cy="342351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1645919" y="4544568"/>
            <a:ext cx="4038447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50" b="1" i="0">
                <a:solidFill>
                  <a:srgbClr val="1A3A52"/>
                </a:solidFill>
                <a:latin typeface="Cambria"/>
              </a:rPr>
              <a:t>Keep Others in the Loop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645919" y="4910328"/>
            <a:ext cx="4038447" cy="1417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1200" b="0" i="0">
                <a:solidFill>
                  <a:srgbClr val="5C7182"/>
                </a:solidFill>
                <a:latin typeface="Calibri"/>
              </a:rPr>
              <a:t>Auto-Notify texts friends, family, or coworkers the moment you leave or arrive — so they always know where you are on the trip, without you lifting a finger.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278727" y="4343400"/>
            <a:ext cx="5364327" cy="214884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>
            <a:noFill/>
          </a:ln>
          <a:effectLst>
            <a:outerShdw blurRad="90000" dist="30000" dir="5400000" rotWithShape="0">
              <a:srgbClr val="0F2836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Oval 19"/>
          <p:cNvSpPr/>
          <p:nvPr/>
        </p:nvSpPr>
        <p:spPr>
          <a:xfrm>
            <a:off x="6553047" y="5088636"/>
            <a:ext cx="658368" cy="658368"/>
          </a:xfrm>
          <a:prstGeom prst="ellipse">
            <a:avLst/>
          </a:prstGeom>
          <a:solidFill>
            <a:srgbClr val="1A3A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21" name="Picture 20" descr="phone_F5C842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711055" y="5246644"/>
            <a:ext cx="342351" cy="342351"/>
          </a:xfrm>
          <a:prstGeom prst="rect">
            <a:avLst/>
          </a:prstGeom>
        </p:spPr>
      </p:pic>
      <p:sp>
        <p:nvSpPr>
          <p:cNvPr id="22" name="TextBox 21"/>
          <p:cNvSpPr txBox="1"/>
          <p:nvPr/>
        </p:nvSpPr>
        <p:spPr>
          <a:xfrm>
            <a:off x="7376007" y="4544568"/>
            <a:ext cx="4038447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50" b="1" i="0">
                <a:solidFill>
                  <a:srgbClr val="1A3A52"/>
                </a:solidFill>
                <a:latin typeface="Cambria"/>
              </a:rPr>
              <a:t>See It All at a Glance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376007" y="4910328"/>
            <a:ext cx="4038447" cy="1417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1200" b="0" i="0">
                <a:solidFill>
                  <a:srgbClr val="5C7182"/>
                </a:solidFill>
                <a:latin typeface="Calibri"/>
              </a:rPr>
              <a:t>Every alarm shows its trigger, radius, and status right on the home screen.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11323015" y="6025896"/>
            <a:ext cx="603504" cy="603504"/>
          </a:xfrm>
          <a:prstGeom prst="roundRect">
            <a:avLst>
              <a:gd name="adj" fmla="val 32000"/>
            </a:avLst>
          </a:prstGeom>
          <a:solidFill>
            <a:srgbClr val="FFFFFF"/>
          </a:solidFill>
          <a:ln>
            <a:noFill/>
          </a:ln>
          <a:effectLst>
            <a:outerShdw blurRad="90000" dist="30000" dir="5400000" rotWithShape="0">
              <a:srgbClr val="0F2836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25" name="Picture 24" descr="app_icon_roun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1368735" y="6071616"/>
            <a:ext cx="512064" cy="512064"/>
          </a:xfrm>
          <a:prstGeom prst="rect">
            <a:avLst/>
          </a:prstGeom>
        </p:spPr>
      </p:pic>
      <p:sp>
        <p:nvSpPr>
          <p:cNvPr id="26" name="TextBox 25"/>
          <p:cNvSpPr txBox="1"/>
          <p:nvPr/>
        </p:nvSpPr>
        <p:spPr>
          <a:xfrm>
            <a:off x="502920" y="6455664"/>
            <a:ext cx="45720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0" i="0">
                <a:solidFill>
                  <a:srgbClr val="5C7182"/>
                </a:solidFill>
                <a:latin typeface="Calibri"/>
              </a:rPr>
              <a:t>GeoNap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7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457200"/>
            <a:ext cx="73152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1" i="0" spc="160">
                <a:solidFill>
                  <a:srgbClr val="C89E28"/>
                </a:solidFill>
                <a:latin typeface="Calibri"/>
              </a:rPr>
              <a:t>SMARTER EVERY TRIP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49808"/>
            <a:ext cx="9997135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2000"/>
              </a:lnSpc>
            </a:pPr>
            <a:r>
              <a:rPr sz="3000" b="1" i="0">
                <a:solidFill>
                  <a:srgbClr val="1A3A52"/>
                </a:solidFill>
                <a:latin typeface="Cambria"/>
              </a:rPr>
              <a:t>Features That Work Quietly in the Background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874519"/>
            <a:ext cx="5364327" cy="214884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>
            <a:noFill/>
          </a:ln>
          <a:effectLst>
            <a:outerShdw blurRad="90000" dist="30000" dir="5400000" rotWithShape="0">
              <a:srgbClr val="0F2836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Oval 4"/>
          <p:cNvSpPr/>
          <p:nvPr/>
        </p:nvSpPr>
        <p:spPr>
          <a:xfrm>
            <a:off x="822960" y="2619756"/>
            <a:ext cx="658368" cy="658368"/>
          </a:xfrm>
          <a:prstGeom prst="ellipse">
            <a:avLst/>
          </a:prstGeom>
          <a:solidFill>
            <a:srgbClr val="1A3A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6" name="Picture 5" descr="calendar_F5C84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0968" y="2777764"/>
            <a:ext cx="342351" cy="342351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1645919" y="2075688"/>
            <a:ext cx="4038447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50" b="1" i="0">
                <a:solidFill>
                  <a:srgbClr val="1A3A52"/>
                </a:solidFill>
                <a:latin typeface="Cambria"/>
              </a:rPr>
              <a:t>Calendar Scanning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645919" y="2441448"/>
            <a:ext cx="4038447" cy="1417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1200" b="0" i="0">
                <a:solidFill>
                  <a:srgbClr val="5C7182"/>
                </a:solidFill>
                <a:latin typeface="Calibri"/>
              </a:rPr>
              <a:t>GeoNap scans your calendar for upcoming trips and suggests alarms — you choose which to add.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78727" y="1874519"/>
            <a:ext cx="5364327" cy="214884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>
            <a:noFill/>
          </a:ln>
          <a:effectLst>
            <a:outerShdw blurRad="90000" dist="30000" dir="5400000" rotWithShape="0">
              <a:srgbClr val="0F2836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Oval 9"/>
          <p:cNvSpPr/>
          <p:nvPr/>
        </p:nvSpPr>
        <p:spPr>
          <a:xfrm>
            <a:off x="6553047" y="2619756"/>
            <a:ext cx="658368" cy="658368"/>
          </a:xfrm>
          <a:prstGeom prst="ellipse">
            <a:avLst/>
          </a:prstGeom>
          <a:solidFill>
            <a:srgbClr val="1A3A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1" name="Picture 10" descr="mic_F5C84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11055" y="2777764"/>
            <a:ext cx="342351" cy="342351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7376007" y="2075688"/>
            <a:ext cx="4038447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50" b="1" i="0">
                <a:solidFill>
                  <a:srgbClr val="1A3A52"/>
                </a:solidFill>
                <a:latin typeface="Cambria"/>
              </a:rPr>
              <a:t>Hands-Free with Siri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76007" y="2441448"/>
            <a:ext cx="4038447" cy="1417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1200" b="0" i="0">
                <a:solidFill>
                  <a:srgbClr val="5C7182"/>
                </a:solidFill>
                <a:latin typeface="Calibri"/>
              </a:rPr>
              <a:t>“Create a GeoNap” sets an alarm using just your voice — no typing required.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48640" y="4343400"/>
            <a:ext cx="5364327" cy="214884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>
            <a:noFill/>
          </a:ln>
          <a:effectLst>
            <a:outerShdw blurRad="90000" dist="30000" dir="5400000" rotWithShape="0">
              <a:srgbClr val="0F2836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Oval 14"/>
          <p:cNvSpPr/>
          <p:nvPr/>
        </p:nvSpPr>
        <p:spPr>
          <a:xfrm>
            <a:off x="822960" y="5088636"/>
            <a:ext cx="658368" cy="658368"/>
          </a:xfrm>
          <a:prstGeom prst="ellipse">
            <a:avLst/>
          </a:prstGeom>
          <a:solidFill>
            <a:srgbClr val="1A3A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6" name="Picture 15" descr="home_F5C842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80968" y="5246644"/>
            <a:ext cx="342351" cy="342351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1645919" y="4544568"/>
            <a:ext cx="4038447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50" b="1" i="0">
                <a:solidFill>
                  <a:srgbClr val="1A3A52"/>
                </a:solidFill>
                <a:latin typeface="Cambria"/>
              </a:rPr>
              <a:t>Run Any Shortcut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645919" y="4910328"/>
            <a:ext cx="4038447" cy="1417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1200" b="0" i="0" dirty="0">
                <a:solidFill>
                  <a:srgbClr val="5C7182"/>
                </a:solidFill>
                <a:latin typeface="Calibri"/>
              </a:rPr>
              <a:t>Trigger a Shortcut when you arrive — lights and heat, a </a:t>
            </a:r>
            <a:r>
              <a:rPr lang="en-US" sz="1200" b="0" i="0" dirty="0">
                <a:solidFill>
                  <a:srgbClr val="5C7182"/>
                </a:solidFill>
                <a:latin typeface="Calibri"/>
              </a:rPr>
              <a:t>text</a:t>
            </a:r>
            <a:r>
              <a:rPr sz="1200" b="0" i="0" dirty="0">
                <a:solidFill>
                  <a:srgbClr val="5C7182"/>
                </a:solidFill>
                <a:latin typeface="Calibri"/>
              </a:rPr>
              <a:t> to family, even a remote car start.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278727" y="4343400"/>
            <a:ext cx="5364327" cy="214884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>
            <a:noFill/>
          </a:ln>
          <a:effectLst>
            <a:outerShdw blurRad="90000" dist="30000" dir="5400000" rotWithShape="0">
              <a:srgbClr val="0F2836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Oval 19"/>
          <p:cNvSpPr/>
          <p:nvPr/>
        </p:nvSpPr>
        <p:spPr>
          <a:xfrm>
            <a:off x="6553047" y="5088636"/>
            <a:ext cx="658368" cy="658368"/>
          </a:xfrm>
          <a:prstGeom prst="ellipse">
            <a:avLst/>
          </a:prstGeom>
          <a:solidFill>
            <a:srgbClr val="1A3A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21" name="Picture 20" descr="car_F5C842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711055" y="5246644"/>
            <a:ext cx="342351" cy="342351"/>
          </a:xfrm>
          <a:prstGeom prst="rect">
            <a:avLst/>
          </a:prstGeom>
        </p:spPr>
      </p:pic>
      <p:sp>
        <p:nvSpPr>
          <p:cNvPr id="22" name="TextBox 21"/>
          <p:cNvSpPr txBox="1"/>
          <p:nvPr/>
        </p:nvSpPr>
        <p:spPr>
          <a:xfrm>
            <a:off x="7376007" y="4544568"/>
            <a:ext cx="4038447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50" b="1" i="0">
                <a:solidFill>
                  <a:srgbClr val="1A3A52"/>
                </a:solidFill>
                <a:latin typeface="Cambria"/>
              </a:rPr>
              <a:t>Built for CarPlay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376007" y="4910328"/>
            <a:ext cx="4038447" cy="1417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1200" b="0" i="0">
                <a:solidFill>
                  <a:srgbClr val="5C7182"/>
                </a:solidFill>
                <a:latin typeface="Calibri"/>
              </a:rPr>
              <a:t>Alarms appear right on your car's screen for any passenger riding along.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11323015" y="6025896"/>
            <a:ext cx="603504" cy="603504"/>
          </a:xfrm>
          <a:prstGeom prst="roundRect">
            <a:avLst>
              <a:gd name="adj" fmla="val 32000"/>
            </a:avLst>
          </a:prstGeom>
          <a:solidFill>
            <a:srgbClr val="FFFFFF"/>
          </a:solidFill>
          <a:ln>
            <a:noFill/>
          </a:ln>
          <a:effectLst>
            <a:outerShdw blurRad="90000" dist="30000" dir="5400000" rotWithShape="0">
              <a:srgbClr val="0F2836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25" name="Picture 24" descr="app_icon_roun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1368735" y="6071616"/>
            <a:ext cx="512064" cy="512064"/>
          </a:xfrm>
          <a:prstGeom prst="rect">
            <a:avLst/>
          </a:prstGeom>
        </p:spPr>
      </p:pic>
      <p:sp>
        <p:nvSpPr>
          <p:cNvPr id="26" name="TextBox 25"/>
          <p:cNvSpPr txBox="1"/>
          <p:nvPr/>
        </p:nvSpPr>
        <p:spPr>
          <a:xfrm>
            <a:off x="502920" y="6455664"/>
            <a:ext cx="45720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0" i="0">
                <a:solidFill>
                  <a:srgbClr val="5C7182"/>
                </a:solidFill>
                <a:latin typeface="Calibri"/>
              </a:rPr>
              <a:t>GeoNap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7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4114800" cy="6858000"/>
          </a:xfrm>
          <a:prstGeom prst="rect">
            <a:avLst/>
          </a:prstGeom>
          <a:solidFill>
            <a:srgbClr val="1A3A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3" name="Connector 2"/>
          <p:cNvCxnSpPr/>
          <p:nvPr/>
        </p:nvCxnSpPr>
        <p:spPr>
          <a:xfrm>
            <a:off x="640080" y="5120640"/>
            <a:ext cx="502920" cy="502920"/>
          </a:xfrm>
          <a:prstGeom prst="line">
            <a:avLst/>
          </a:prstGeom>
          <a:ln w="25400">
            <a:solidFill>
              <a:srgbClr val="C89E28"/>
            </a:solidFill>
            <a:prstDash val="sysDot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 flipH="1">
            <a:off x="914400" y="5623560"/>
            <a:ext cx="228600" cy="548640"/>
          </a:xfrm>
          <a:prstGeom prst="line">
            <a:avLst/>
          </a:prstGeom>
          <a:ln w="25400">
            <a:solidFill>
              <a:srgbClr val="C89E28"/>
            </a:solidFill>
            <a:prstDash val="sysDot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Oval 4"/>
          <p:cNvSpPr/>
          <p:nvPr/>
        </p:nvSpPr>
        <p:spPr>
          <a:xfrm>
            <a:off x="1188720" y="1463039"/>
            <a:ext cx="1737360" cy="1737360"/>
          </a:xfrm>
          <a:prstGeom prst="ellipse">
            <a:avLst/>
          </a:prstGeom>
          <a:solidFill>
            <a:srgbClr val="0F28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6" name="Picture 5" descr="train_F5C84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05686" y="1880006"/>
            <a:ext cx="903427" cy="903427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457200" y="3429000"/>
            <a:ext cx="32004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200" b="1" i="0" spc="180">
                <a:solidFill>
                  <a:srgbClr val="F5C842"/>
                </a:solidFill>
                <a:latin typeface="Calibri"/>
              </a:rPr>
              <a:t>USE CASE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3794760"/>
            <a:ext cx="3200400" cy="11887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8000"/>
              </a:lnSpc>
            </a:pPr>
            <a:r>
              <a:rPr sz="2100" b="1" i="0">
                <a:solidFill>
                  <a:srgbClr val="FFFFFF"/>
                </a:solidFill>
                <a:latin typeface="Cambria"/>
              </a:rPr>
              <a:t>Train &amp; Subway</a:t>
            </a:r>
          </a:p>
          <a:p>
            <a:pPr algn="ctr">
              <a:lnSpc>
                <a:spcPct val="108000"/>
              </a:lnSpc>
            </a:pPr>
            <a:r>
              <a:rPr sz="2100" b="1" i="0">
                <a:solidFill>
                  <a:srgbClr val="FFFFFF"/>
                </a:solidFill>
                <a:latin typeface="Cambria"/>
              </a:rPr>
              <a:t>Commuters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800600" y="594360"/>
            <a:ext cx="73152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1" i="0" spc="160">
                <a:solidFill>
                  <a:srgbClr val="C89E28"/>
                </a:solidFill>
                <a:latin typeface="Calibri"/>
              </a:rPr>
              <a:t>USE CASE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800600" y="896112"/>
            <a:ext cx="6842455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2700" b="1" i="0">
                <a:solidFill>
                  <a:srgbClr val="1A3A52"/>
                </a:solidFill>
                <a:latin typeface="Cambria"/>
              </a:rPr>
              <a:t>The Daily Commute, Finally Restful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800600" y="1965960"/>
            <a:ext cx="6751015" cy="2926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500" b="0" i="0">
                <a:solidFill>
                  <a:srgbClr val="17303F"/>
                </a:solidFill>
                <a:latin typeface="Calibri"/>
              </a:rPr>
              <a:t>Set an alarm at your station once. Every morning, doze off the moment you sit down — GeoNap wakes you just before you arrive, automatically, without setting anything twice.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800600" y="5074920"/>
            <a:ext cx="6339535" cy="1097280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>
            <a:noFill/>
          </a:ln>
          <a:effectLst>
            <a:outerShdw blurRad="90000" dist="30000" dir="5400000" rotWithShape="0">
              <a:srgbClr val="0F2836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5074920" y="5239512"/>
            <a:ext cx="5790895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2000"/>
              </a:lnSpc>
            </a:pPr>
            <a:r>
              <a:rPr sz="1200" b="0" i="0">
                <a:solidFill>
                  <a:srgbClr val="5C7182"/>
                </a:solidFill>
                <a:latin typeface="Calibri"/>
              </a:rPr>
              <a:t>Repeating alarms reset automatically after each trip, so the same alarm is ready again tomorrow.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1323015" y="6025896"/>
            <a:ext cx="603504" cy="603504"/>
          </a:xfrm>
          <a:prstGeom prst="roundRect">
            <a:avLst>
              <a:gd name="adj" fmla="val 32000"/>
            </a:avLst>
          </a:prstGeom>
          <a:solidFill>
            <a:srgbClr val="FFFFFF"/>
          </a:solidFill>
          <a:ln>
            <a:noFill/>
          </a:ln>
          <a:effectLst>
            <a:outerShdw blurRad="90000" dist="30000" dir="5400000" rotWithShape="0">
              <a:srgbClr val="0F2836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5" name="Picture 14" descr="app_icon_roun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368735" y="6071616"/>
            <a:ext cx="512064" cy="512064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502920" y="6455664"/>
            <a:ext cx="45720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0" i="0">
                <a:solidFill>
                  <a:srgbClr val="5C7182"/>
                </a:solidFill>
                <a:latin typeface="Calibri"/>
              </a:rPr>
              <a:t>GeoNap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7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4114800" cy="6858000"/>
          </a:xfrm>
          <a:prstGeom prst="rect">
            <a:avLst/>
          </a:prstGeom>
          <a:solidFill>
            <a:srgbClr val="1A3A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3" name="Connector 2"/>
          <p:cNvCxnSpPr/>
          <p:nvPr/>
        </p:nvCxnSpPr>
        <p:spPr>
          <a:xfrm>
            <a:off x="640080" y="5120640"/>
            <a:ext cx="502920" cy="502920"/>
          </a:xfrm>
          <a:prstGeom prst="line">
            <a:avLst/>
          </a:prstGeom>
          <a:ln w="25400">
            <a:solidFill>
              <a:srgbClr val="C89E28"/>
            </a:solidFill>
            <a:prstDash val="sysDot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 flipH="1">
            <a:off x="914400" y="5623560"/>
            <a:ext cx="228600" cy="548640"/>
          </a:xfrm>
          <a:prstGeom prst="line">
            <a:avLst/>
          </a:prstGeom>
          <a:ln w="25400">
            <a:solidFill>
              <a:srgbClr val="C89E28"/>
            </a:solidFill>
            <a:prstDash val="sysDot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Oval 4"/>
          <p:cNvSpPr/>
          <p:nvPr/>
        </p:nvSpPr>
        <p:spPr>
          <a:xfrm>
            <a:off x="1188720" y="1463039"/>
            <a:ext cx="1737360" cy="1737360"/>
          </a:xfrm>
          <a:prstGeom prst="ellipse">
            <a:avLst/>
          </a:prstGeom>
          <a:solidFill>
            <a:srgbClr val="0F28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6" name="Picture 5" descr="home_F5C84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05686" y="1880006"/>
            <a:ext cx="903427" cy="903427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457200" y="3429000"/>
            <a:ext cx="32004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200" b="1" i="0" spc="180">
                <a:solidFill>
                  <a:srgbClr val="F5C842"/>
                </a:solidFill>
                <a:latin typeface="Calibri"/>
              </a:rPr>
              <a:t>USE CASE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3794760"/>
            <a:ext cx="3200400" cy="11887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8000"/>
              </a:lnSpc>
            </a:pPr>
            <a:r>
              <a:rPr sz="2100" b="1" i="0">
                <a:solidFill>
                  <a:srgbClr val="FFFFFF"/>
                </a:solidFill>
                <a:latin typeface="Cambria"/>
              </a:rPr>
              <a:t>Arriving</a:t>
            </a:r>
          </a:p>
          <a:p>
            <a:pPr algn="ctr">
              <a:lnSpc>
                <a:spcPct val="108000"/>
              </a:lnSpc>
            </a:pPr>
            <a:r>
              <a:rPr sz="2100" b="1" i="0">
                <a:solidFill>
                  <a:srgbClr val="FFFFFF"/>
                </a:solidFill>
                <a:latin typeface="Cambria"/>
              </a:rPr>
              <a:t>Home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800600" y="594360"/>
            <a:ext cx="73152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1" i="0" spc="160">
                <a:solidFill>
                  <a:srgbClr val="C89E28"/>
                </a:solidFill>
                <a:latin typeface="Calibri"/>
              </a:rPr>
              <a:t>USE CASE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800600" y="896112"/>
            <a:ext cx="6842455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2700" b="1" i="0">
                <a:solidFill>
                  <a:srgbClr val="1A3A52"/>
                </a:solidFill>
                <a:latin typeface="Cambria"/>
              </a:rPr>
              <a:t>Walk Into a Home That's Already Ready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800600" y="1965960"/>
            <a:ext cx="6751015" cy="58400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500" b="0" i="0" dirty="0">
                <a:solidFill>
                  <a:srgbClr val="17303F"/>
                </a:solidFill>
                <a:latin typeface="Calibri"/>
              </a:rPr>
              <a:t>As you approach your stop, </a:t>
            </a:r>
            <a:r>
              <a:rPr sz="1500" b="0" i="0" dirty="0" err="1">
                <a:solidFill>
                  <a:srgbClr val="17303F"/>
                </a:solidFill>
                <a:latin typeface="Calibri"/>
              </a:rPr>
              <a:t>GeoNap</a:t>
            </a:r>
            <a:r>
              <a:rPr sz="1500" b="0" i="0" dirty="0">
                <a:solidFill>
                  <a:srgbClr val="17303F"/>
                </a:solidFill>
                <a:latin typeface="Calibri"/>
              </a:rPr>
              <a:t> wakes you and </a:t>
            </a:r>
            <a:r>
              <a:rPr lang="en-US" sz="1500" b="0" i="0" dirty="0">
                <a:solidFill>
                  <a:srgbClr val="17303F"/>
                </a:solidFill>
                <a:latin typeface="Calibri"/>
              </a:rPr>
              <a:t>can </a:t>
            </a:r>
            <a:r>
              <a:rPr sz="1500" b="0" i="0" dirty="0">
                <a:solidFill>
                  <a:srgbClr val="17303F"/>
                </a:solidFill>
                <a:latin typeface="Calibri"/>
              </a:rPr>
              <a:t>run </a:t>
            </a:r>
            <a:r>
              <a:rPr lang="en-US" sz="1500" dirty="0">
                <a:solidFill>
                  <a:srgbClr val="17303F"/>
                </a:solidFill>
                <a:latin typeface="Calibri"/>
              </a:rPr>
              <a:t>any </a:t>
            </a:r>
            <a:r>
              <a:rPr sz="1500" b="0" i="0" dirty="0">
                <a:solidFill>
                  <a:srgbClr val="17303F"/>
                </a:solidFill>
                <a:latin typeface="Calibri"/>
              </a:rPr>
              <a:t>Shortcut at the same moment — lights on, thermostat set, and everything ready before you walk in the door.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800600" y="5074920"/>
            <a:ext cx="6339535" cy="1097280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>
            <a:noFill/>
          </a:ln>
          <a:effectLst>
            <a:outerShdw blurRad="90000" dist="30000" dir="5400000" rotWithShape="0">
              <a:srgbClr val="0F2836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5074920" y="5239512"/>
            <a:ext cx="5790895" cy="43492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2000"/>
              </a:lnSpc>
            </a:pPr>
            <a:r>
              <a:rPr sz="1200" b="0" i="0" dirty="0">
                <a:solidFill>
                  <a:srgbClr val="5C7182"/>
                </a:solidFill>
                <a:latin typeface="Calibri"/>
              </a:rPr>
              <a:t>Powered by any Shortcut you build — HomeKit scenes, a text to family, even a remote car start</a:t>
            </a:r>
            <a:r>
              <a:rPr lang="en-US" sz="1200" b="0" i="0" dirty="0">
                <a:solidFill>
                  <a:srgbClr val="5C7182"/>
                </a:solidFill>
                <a:latin typeface="Calibri"/>
              </a:rPr>
              <a:t>, any application that support Apple shortcuts</a:t>
            </a:r>
            <a:r>
              <a:rPr sz="1200" b="0" i="0" dirty="0">
                <a:solidFill>
                  <a:srgbClr val="5C7182"/>
                </a:solidFill>
                <a:latin typeface="Calibri"/>
              </a:rPr>
              <a:t>. </a:t>
            </a:r>
            <a:r>
              <a:rPr sz="1200" b="0" i="0" dirty="0" err="1">
                <a:solidFill>
                  <a:srgbClr val="5C7182"/>
                </a:solidFill>
                <a:latin typeface="Calibri"/>
              </a:rPr>
              <a:t>GeoNap</a:t>
            </a:r>
            <a:r>
              <a:rPr sz="1200" b="0" i="0" dirty="0">
                <a:solidFill>
                  <a:srgbClr val="5C7182"/>
                </a:solidFill>
                <a:latin typeface="Calibri"/>
              </a:rPr>
              <a:t> just needs its name.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1323015" y="6025896"/>
            <a:ext cx="603504" cy="603504"/>
          </a:xfrm>
          <a:prstGeom prst="roundRect">
            <a:avLst>
              <a:gd name="adj" fmla="val 32000"/>
            </a:avLst>
          </a:prstGeom>
          <a:solidFill>
            <a:srgbClr val="FFFFFF"/>
          </a:solidFill>
          <a:ln>
            <a:noFill/>
          </a:ln>
          <a:effectLst>
            <a:outerShdw blurRad="90000" dist="30000" dir="5400000" rotWithShape="0">
              <a:srgbClr val="0F2836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5" name="Picture 14" descr="app_icon_roun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368735" y="6071616"/>
            <a:ext cx="512064" cy="512064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502920" y="6455664"/>
            <a:ext cx="45720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0" i="0">
                <a:solidFill>
                  <a:srgbClr val="5C7182"/>
                </a:solidFill>
                <a:latin typeface="Calibri"/>
              </a:rPr>
              <a:t>GeoNap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7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4114800" cy="6858000"/>
          </a:xfrm>
          <a:prstGeom prst="rect">
            <a:avLst/>
          </a:prstGeom>
          <a:solidFill>
            <a:srgbClr val="1A3A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3" name="Connector 2"/>
          <p:cNvCxnSpPr/>
          <p:nvPr/>
        </p:nvCxnSpPr>
        <p:spPr>
          <a:xfrm>
            <a:off x="640080" y="5120640"/>
            <a:ext cx="502920" cy="502920"/>
          </a:xfrm>
          <a:prstGeom prst="line">
            <a:avLst/>
          </a:prstGeom>
          <a:ln w="25400">
            <a:solidFill>
              <a:srgbClr val="C89E28"/>
            </a:solidFill>
            <a:prstDash val="sysDot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 flipH="1">
            <a:off x="914400" y="5623560"/>
            <a:ext cx="228600" cy="548640"/>
          </a:xfrm>
          <a:prstGeom prst="line">
            <a:avLst/>
          </a:prstGeom>
          <a:ln w="25400">
            <a:solidFill>
              <a:srgbClr val="C89E28"/>
            </a:solidFill>
            <a:prstDash val="sysDot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Oval 4"/>
          <p:cNvSpPr/>
          <p:nvPr/>
        </p:nvSpPr>
        <p:spPr>
          <a:xfrm>
            <a:off x="1188720" y="1463039"/>
            <a:ext cx="1737360" cy="1737360"/>
          </a:xfrm>
          <a:prstGeom prst="ellipse">
            <a:avLst/>
          </a:prstGeom>
          <a:solidFill>
            <a:srgbClr val="0F28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6" name="Picture 5" descr="bus_F5C84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05686" y="1880006"/>
            <a:ext cx="903427" cy="903427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457200" y="3429000"/>
            <a:ext cx="32004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200" b="1" i="0" spc="180">
                <a:solidFill>
                  <a:srgbClr val="F5C842"/>
                </a:solidFill>
                <a:latin typeface="Calibri"/>
              </a:rPr>
              <a:t>USE CASE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3794760"/>
            <a:ext cx="3200400" cy="11887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8000"/>
              </a:lnSpc>
            </a:pPr>
            <a:r>
              <a:rPr sz="2100" b="1" i="0">
                <a:solidFill>
                  <a:srgbClr val="FFFFFF"/>
                </a:solidFill>
                <a:latin typeface="Cambria"/>
              </a:rPr>
              <a:t>Bus</a:t>
            </a:r>
          </a:p>
          <a:p>
            <a:pPr algn="ctr">
              <a:lnSpc>
                <a:spcPct val="108000"/>
              </a:lnSpc>
            </a:pPr>
            <a:r>
              <a:rPr sz="2100" b="1" i="0">
                <a:solidFill>
                  <a:srgbClr val="FFFFFF"/>
                </a:solidFill>
                <a:latin typeface="Cambria"/>
              </a:rPr>
              <a:t>Riders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800600" y="594360"/>
            <a:ext cx="73152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1" i="0" spc="160">
                <a:solidFill>
                  <a:srgbClr val="C89E28"/>
                </a:solidFill>
                <a:latin typeface="Calibri"/>
              </a:rPr>
              <a:t>USE CASE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800600" y="896112"/>
            <a:ext cx="6842455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2700" b="1" i="0">
                <a:solidFill>
                  <a:srgbClr val="1A3A52"/>
                </a:solidFill>
                <a:latin typeface="Cambria"/>
              </a:rPr>
              <a:t>Never Miss the Bus Again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800600" y="1965960"/>
            <a:ext cx="6751015" cy="2926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500" b="0" i="0">
                <a:solidFill>
                  <a:srgbClr val="17303F"/>
                </a:solidFill>
                <a:latin typeface="Calibri"/>
              </a:rPr>
              <a:t>Set a departure alarm at your home stop. GeoNap fires the moment you leave the area — a built-in reminder to head out, right when you need it.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800600" y="5074920"/>
            <a:ext cx="6339535" cy="1097280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>
            <a:noFill/>
          </a:ln>
          <a:effectLst>
            <a:outerShdw blurRad="90000" dist="30000" dir="5400000" rotWithShape="0">
              <a:srgbClr val="0F2836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5074920" y="5239512"/>
            <a:ext cx="5790895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2000"/>
              </a:lnSpc>
            </a:pPr>
            <a:r>
              <a:rPr sz="1200" b="0" i="0">
                <a:solidFill>
                  <a:srgbClr val="5C7182"/>
                </a:solidFill>
                <a:latin typeface="Calibri"/>
              </a:rPr>
              <a:t>Choose On Departure as the trigger, and pair it with a comfortable radius for your stop.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1323015" y="6025896"/>
            <a:ext cx="603504" cy="603504"/>
          </a:xfrm>
          <a:prstGeom prst="roundRect">
            <a:avLst>
              <a:gd name="adj" fmla="val 32000"/>
            </a:avLst>
          </a:prstGeom>
          <a:solidFill>
            <a:srgbClr val="FFFFFF"/>
          </a:solidFill>
          <a:ln>
            <a:noFill/>
          </a:ln>
          <a:effectLst>
            <a:outerShdw blurRad="90000" dist="30000" dir="5400000" rotWithShape="0">
              <a:srgbClr val="0F2836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5" name="Picture 14" descr="app_icon_roun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368735" y="6071616"/>
            <a:ext cx="512064" cy="512064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502920" y="6455664"/>
            <a:ext cx="45720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0" i="0">
                <a:solidFill>
                  <a:srgbClr val="5C7182"/>
                </a:solidFill>
                <a:latin typeface="Calibri"/>
              </a:rPr>
              <a:t>GeoNap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7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4114800" cy="6858000"/>
          </a:xfrm>
          <a:prstGeom prst="rect">
            <a:avLst/>
          </a:prstGeom>
          <a:solidFill>
            <a:srgbClr val="1A3A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3" name="Connector 2"/>
          <p:cNvCxnSpPr/>
          <p:nvPr/>
        </p:nvCxnSpPr>
        <p:spPr>
          <a:xfrm>
            <a:off x="640080" y="5120640"/>
            <a:ext cx="502920" cy="502920"/>
          </a:xfrm>
          <a:prstGeom prst="line">
            <a:avLst/>
          </a:prstGeom>
          <a:ln w="25400">
            <a:solidFill>
              <a:srgbClr val="C89E28"/>
            </a:solidFill>
            <a:prstDash val="sysDot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 flipH="1">
            <a:off x="914400" y="5623560"/>
            <a:ext cx="228600" cy="548640"/>
          </a:xfrm>
          <a:prstGeom prst="line">
            <a:avLst/>
          </a:prstGeom>
          <a:ln w="25400">
            <a:solidFill>
              <a:srgbClr val="C89E28"/>
            </a:solidFill>
            <a:prstDash val="sysDot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Oval 4"/>
          <p:cNvSpPr/>
          <p:nvPr/>
        </p:nvSpPr>
        <p:spPr>
          <a:xfrm>
            <a:off x="1188720" y="1463039"/>
            <a:ext cx="1737360" cy="1737360"/>
          </a:xfrm>
          <a:prstGeom prst="ellipse">
            <a:avLst/>
          </a:prstGeom>
          <a:solidFill>
            <a:srgbClr val="0F28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6" name="Picture 5" descr="car_F5C84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05686" y="1880006"/>
            <a:ext cx="903427" cy="903427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457200" y="3429000"/>
            <a:ext cx="32004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200" b="1" i="0" spc="180">
                <a:solidFill>
                  <a:srgbClr val="F5C842"/>
                </a:solidFill>
                <a:latin typeface="Calibri"/>
              </a:rPr>
              <a:t>USE CASE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3794760"/>
            <a:ext cx="3200400" cy="11887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8000"/>
              </a:lnSpc>
            </a:pPr>
            <a:r>
              <a:rPr sz="2100" b="1" i="0">
                <a:solidFill>
                  <a:srgbClr val="FFFFFF"/>
                </a:solidFill>
                <a:latin typeface="Cambria"/>
              </a:rPr>
              <a:t>Road Trip</a:t>
            </a:r>
          </a:p>
          <a:p>
            <a:pPr algn="ctr">
              <a:lnSpc>
                <a:spcPct val="108000"/>
              </a:lnSpc>
            </a:pPr>
            <a:r>
              <a:rPr sz="2100" b="1" i="0">
                <a:solidFill>
                  <a:srgbClr val="FFFFFF"/>
                </a:solidFill>
                <a:latin typeface="Cambria"/>
              </a:rPr>
              <a:t>Passengers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800600" y="594360"/>
            <a:ext cx="73152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1" i="0" spc="160">
                <a:solidFill>
                  <a:srgbClr val="C89E28"/>
                </a:solidFill>
                <a:latin typeface="Calibri"/>
              </a:rPr>
              <a:t>USE CASE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800600" y="896112"/>
            <a:ext cx="6842455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2700" b="1" i="0">
                <a:solidFill>
                  <a:srgbClr val="1A3A52"/>
                </a:solidFill>
                <a:latin typeface="Cambria"/>
              </a:rPr>
              <a:t>Ride Along Without Watching the Map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800600" y="1965960"/>
            <a:ext cx="6751015" cy="2926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500" b="0" i="0">
                <a:solidFill>
                  <a:srgbClr val="17303F"/>
                </a:solidFill>
                <a:latin typeface="Calibri"/>
              </a:rPr>
              <a:t>Set an alarm at a waypoint city or your final destination. You'll be notified the moment the car gets close — so you can read, nap, or chat instead of tracking every mile.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800600" y="5074920"/>
            <a:ext cx="6339535" cy="1097280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>
            <a:noFill/>
          </a:ln>
          <a:effectLst>
            <a:outerShdw blurRad="90000" dist="30000" dir="5400000" rotWithShape="0">
              <a:srgbClr val="0F2836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5074920" y="5239512"/>
            <a:ext cx="5790895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2000"/>
              </a:lnSpc>
            </a:pPr>
            <a:r>
              <a:rPr sz="1200" b="0" i="0">
                <a:solidFill>
                  <a:srgbClr val="5C7182"/>
                </a:solidFill>
                <a:latin typeface="Calibri"/>
              </a:rPr>
              <a:t>Time-based triggers can even wake you a set number of minutes before arrival, based on your current speed.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1323015" y="6025896"/>
            <a:ext cx="603504" cy="603504"/>
          </a:xfrm>
          <a:prstGeom prst="roundRect">
            <a:avLst>
              <a:gd name="adj" fmla="val 32000"/>
            </a:avLst>
          </a:prstGeom>
          <a:solidFill>
            <a:srgbClr val="FFFFFF"/>
          </a:solidFill>
          <a:ln>
            <a:noFill/>
          </a:ln>
          <a:effectLst>
            <a:outerShdw blurRad="90000" dist="30000" dir="5400000" rotWithShape="0">
              <a:srgbClr val="0F2836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5" name="Picture 14" descr="app_icon_roun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368735" y="6071616"/>
            <a:ext cx="512064" cy="512064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502920" y="6455664"/>
            <a:ext cx="45720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0" i="0">
                <a:solidFill>
                  <a:srgbClr val="5C7182"/>
                </a:solidFill>
                <a:latin typeface="Calibri"/>
              </a:rPr>
              <a:t>GeoNap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7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4114800" cy="6858000"/>
          </a:xfrm>
          <a:prstGeom prst="rect">
            <a:avLst/>
          </a:prstGeom>
          <a:solidFill>
            <a:srgbClr val="1A3A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3" name="Connector 2"/>
          <p:cNvCxnSpPr/>
          <p:nvPr/>
        </p:nvCxnSpPr>
        <p:spPr>
          <a:xfrm>
            <a:off x="640080" y="5120640"/>
            <a:ext cx="502920" cy="502920"/>
          </a:xfrm>
          <a:prstGeom prst="line">
            <a:avLst/>
          </a:prstGeom>
          <a:ln w="25400">
            <a:solidFill>
              <a:srgbClr val="C89E28"/>
            </a:solidFill>
            <a:prstDash val="sysDot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 flipH="1">
            <a:off x="914400" y="5623560"/>
            <a:ext cx="228600" cy="548640"/>
          </a:xfrm>
          <a:prstGeom prst="line">
            <a:avLst/>
          </a:prstGeom>
          <a:ln w="25400">
            <a:solidFill>
              <a:srgbClr val="C89E28"/>
            </a:solidFill>
            <a:prstDash val="sysDot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Oval 4"/>
          <p:cNvSpPr/>
          <p:nvPr/>
        </p:nvSpPr>
        <p:spPr>
          <a:xfrm>
            <a:off x="1188720" y="1463039"/>
            <a:ext cx="1737360" cy="1737360"/>
          </a:xfrm>
          <a:prstGeom prst="ellipse">
            <a:avLst/>
          </a:prstGeom>
          <a:solidFill>
            <a:srgbClr val="0F28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6" name="Picture 5" descr="plane_F5C84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05686" y="1880006"/>
            <a:ext cx="903427" cy="903427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457200" y="3429000"/>
            <a:ext cx="32004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200" b="1" i="0" spc="180">
                <a:solidFill>
                  <a:srgbClr val="F5C842"/>
                </a:solidFill>
                <a:latin typeface="Calibri"/>
              </a:rPr>
              <a:t>USE CASE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3794760"/>
            <a:ext cx="3200400" cy="11887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8000"/>
              </a:lnSpc>
            </a:pPr>
            <a:r>
              <a:rPr sz="2100" b="1" i="0">
                <a:solidFill>
                  <a:srgbClr val="FFFFFF"/>
                </a:solidFill>
                <a:latin typeface="Cambria"/>
              </a:rPr>
              <a:t>Travelers</a:t>
            </a:r>
          </a:p>
          <a:p>
            <a:pPr algn="ctr">
              <a:lnSpc>
                <a:spcPct val="108000"/>
              </a:lnSpc>
            </a:pPr>
            <a:r>
              <a:rPr sz="2100" b="1" i="0">
                <a:solidFill>
                  <a:srgbClr val="FFFFFF"/>
                </a:solidFill>
                <a:latin typeface="Cambria"/>
              </a:rPr>
              <a:t>Abroad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800600" y="594360"/>
            <a:ext cx="73152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1" i="0" spc="160">
                <a:solidFill>
                  <a:srgbClr val="C89E28"/>
                </a:solidFill>
                <a:latin typeface="Calibri"/>
              </a:rPr>
              <a:t>USE CASE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800600" y="896112"/>
            <a:ext cx="6842455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2700" b="1" i="0">
                <a:solidFill>
                  <a:srgbClr val="1A3A52"/>
                </a:solidFill>
                <a:latin typeface="Cambria"/>
              </a:rPr>
              <a:t>Confidence in Any New City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800600" y="1965960"/>
            <a:ext cx="6751015" cy="2926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500" b="0" i="0">
                <a:solidFill>
                  <a:srgbClr val="17303F"/>
                </a:solidFill>
                <a:latin typeface="Calibri"/>
              </a:rPr>
              <a:t>Set alarms at your hotel, airport, or meeting locations so you always know the moment you're getting close — even somewhere you've never been.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800600" y="5074920"/>
            <a:ext cx="6339535" cy="1097280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>
            <a:noFill/>
          </a:ln>
          <a:effectLst>
            <a:outerShdw blurRad="90000" dist="30000" dir="5400000" rotWithShape="0">
              <a:srgbClr val="0F2836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5074920" y="5239512"/>
            <a:ext cx="5790895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2000"/>
              </a:lnSpc>
            </a:pPr>
            <a:r>
              <a:rPr sz="1200" b="0" i="0">
                <a:solidFill>
                  <a:srgbClr val="5C7182"/>
                </a:solidFill>
                <a:latin typeface="Calibri"/>
              </a:rPr>
              <a:t>GeoNap works fully offline for standard alarms, and is available in 13 languages.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1323015" y="6025896"/>
            <a:ext cx="603504" cy="603504"/>
          </a:xfrm>
          <a:prstGeom prst="roundRect">
            <a:avLst>
              <a:gd name="adj" fmla="val 32000"/>
            </a:avLst>
          </a:prstGeom>
          <a:solidFill>
            <a:srgbClr val="FFFFFF"/>
          </a:solidFill>
          <a:ln>
            <a:noFill/>
          </a:ln>
          <a:effectLst>
            <a:outerShdw blurRad="90000" dist="30000" dir="5400000" rotWithShape="0">
              <a:srgbClr val="0F2836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5" name="Picture 14" descr="app_icon_roun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368735" y="6071616"/>
            <a:ext cx="512064" cy="512064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502920" y="6455664"/>
            <a:ext cx="45720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0" i="0">
                <a:solidFill>
                  <a:srgbClr val="5C7182"/>
                </a:solidFill>
                <a:latin typeface="Calibri"/>
              </a:rPr>
              <a:t>GeoNap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7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4114800" cy="6858000"/>
          </a:xfrm>
          <a:prstGeom prst="rect">
            <a:avLst/>
          </a:prstGeom>
          <a:solidFill>
            <a:srgbClr val="1A3A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3" name="Connector 2"/>
          <p:cNvCxnSpPr/>
          <p:nvPr/>
        </p:nvCxnSpPr>
        <p:spPr>
          <a:xfrm>
            <a:off x="640080" y="5120640"/>
            <a:ext cx="502920" cy="502920"/>
          </a:xfrm>
          <a:prstGeom prst="line">
            <a:avLst/>
          </a:prstGeom>
          <a:ln w="25400">
            <a:solidFill>
              <a:srgbClr val="C89E28"/>
            </a:solidFill>
            <a:prstDash val="sysDot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 flipH="1">
            <a:off x="914400" y="5623560"/>
            <a:ext cx="228600" cy="548640"/>
          </a:xfrm>
          <a:prstGeom prst="line">
            <a:avLst/>
          </a:prstGeom>
          <a:ln w="25400">
            <a:solidFill>
              <a:srgbClr val="C89E28"/>
            </a:solidFill>
            <a:prstDash val="sysDot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Oval 4"/>
          <p:cNvSpPr/>
          <p:nvPr/>
        </p:nvSpPr>
        <p:spPr>
          <a:xfrm>
            <a:off x="1188720" y="1463039"/>
            <a:ext cx="1737360" cy="1737360"/>
          </a:xfrm>
          <a:prstGeom prst="ellipse">
            <a:avLst/>
          </a:prstGeom>
          <a:solidFill>
            <a:srgbClr val="0F28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6" name="Picture 5" descr="people_F5C84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05686" y="1880006"/>
            <a:ext cx="903427" cy="903427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457200" y="3429000"/>
            <a:ext cx="32004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200" b="1" i="0" spc="180">
                <a:solidFill>
                  <a:srgbClr val="F5C842"/>
                </a:solidFill>
                <a:latin typeface="Calibri"/>
              </a:rPr>
              <a:t>USE CASE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3794760"/>
            <a:ext cx="3200400" cy="11887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8000"/>
              </a:lnSpc>
            </a:pPr>
            <a:r>
              <a:rPr sz="2100" b="1" i="0">
                <a:solidFill>
                  <a:srgbClr val="FFFFFF"/>
                </a:solidFill>
                <a:latin typeface="Cambria"/>
              </a:rPr>
              <a:t>Family &amp;</a:t>
            </a:r>
          </a:p>
          <a:p>
            <a:pPr algn="ctr">
              <a:lnSpc>
                <a:spcPct val="108000"/>
              </a:lnSpc>
            </a:pPr>
            <a:r>
              <a:rPr sz="2100" b="1" i="0">
                <a:solidFill>
                  <a:srgbClr val="FFFFFF"/>
                </a:solidFill>
                <a:latin typeface="Cambria"/>
              </a:rPr>
              <a:t>Friends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800600" y="594360"/>
            <a:ext cx="73152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1" i="0" spc="160">
                <a:solidFill>
                  <a:srgbClr val="C89E28"/>
                </a:solidFill>
                <a:latin typeface="Calibri"/>
              </a:rPr>
              <a:t>USE CASE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800600" y="896112"/>
            <a:ext cx="6842455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2700" b="1" i="0">
                <a:solidFill>
                  <a:srgbClr val="1A3A52"/>
                </a:solidFill>
                <a:latin typeface="Cambria"/>
              </a:rPr>
              <a:t>Know They're On Their Way — and Home Safe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800600" y="1965960"/>
            <a:ext cx="6751015" cy="2926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500" b="0" i="0">
                <a:solidFill>
                  <a:srgbClr val="17303F"/>
                </a:solidFill>
                <a:latin typeface="Calibri"/>
              </a:rPr>
              <a:t>Turn on Auto-Notify for any alarm and the people who care get a text the moment you leave and the moment you arrive — a parent tracking a teenager's commute, or family waiting to hear you landed safe.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800600" y="5074920"/>
            <a:ext cx="6339535" cy="1097280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>
            <a:noFill/>
          </a:ln>
          <a:effectLst>
            <a:outerShdw blurRad="90000" dist="30000" dir="5400000" rotWithShape="0">
              <a:srgbClr val="0F2836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5074920" y="5239512"/>
            <a:ext cx="5790895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2000"/>
              </a:lnSpc>
            </a:pPr>
            <a:r>
              <a:rPr sz="1200" b="0" i="0">
                <a:solidFill>
                  <a:srgbClr val="5C7182"/>
                </a:solidFill>
                <a:latin typeface="Calibri"/>
              </a:rPr>
              <a:t>Auto-Notify fires on both On Departure and On Arrival triggers, so both ends of every trip are covered automatically.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1323015" y="6025896"/>
            <a:ext cx="603504" cy="603504"/>
          </a:xfrm>
          <a:prstGeom prst="roundRect">
            <a:avLst>
              <a:gd name="adj" fmla="val 32000"/>
            </a:avLst>
          </a:prstGeom>
          <a:solidFill>
            <a:srgbClr val="FFFFFF"/>
          </a:solidFill>
          <a:ln>
            <a:noFill/>
          </a:ln>
          <a:effectLst>
            <a:outerShdw blurRad="90000" dist="30000" dir="5400000" rotWithShape="0">
              <a:srgbClr val="0F2836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5" name="Picture 14" descr="app_icon_roun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368735" y="6071616"/>
            <a:ext cx="512064" cy="512064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502920" y="6455664"/>
            <a:ext cx="45720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0" i="0">
                <a:solidFill>
                  <a:srgbClr val="5C7182"/>
                </a:solidFill>
                <a:latin typeface="Calibri"/>
              </a:rPr>
              <a:t>GeoNap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7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457200"/>
            <a:ext cx="73152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1" i="0" spc="160">
                <a:solidFill>
                  <a:srgbClr val="C89E28"/>
                </a:solidFill>
                <a:latin typeface="Calibri"/>
              </a:rPr>
              <a:t>BUILT FOR REAL TRIPS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49808"/>
            <a:ext cx="9997135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2000"/>
              </a:lnSpc>
            </a:pPr>
            <a:r>
              <a:rPr sz="3000" b="1" i="0">
                <a:solidFill>
                  <a:srgbClr val="1A3A52"/>
                </a:solidFill>
                <a:latin typeface="Cambria"/>
              </a:rPr>
              <a:t>Two Ways an Alarm Knows When to Fire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874519"/>
            <a:ext cx="6720840" cy="42062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182880" indent="-182880" algn="l">
              <a:lnSpc>
                <a:spcPct val="118000"/>
              </a:lnSpc>
              <a:spcAft>
                <a:spcPts val="1400"/>
              </a:spcAft>
              <a:buClr>
                <a:srgbClr val="E8282B"/>
              </a:buClr>
              <a:buFont typeface="Arial"/>
              <a:buChar char="•"/>
            </a:pPr>
            <a:r>
              <a:rPr sz="1550" b="1">
                <a:solidFill>
                  <a:srgbClr val="17303F"/>
                </a:solidFill>
                <a:latin typeface="Calibri"/>
              </a:rPr>
              <a:t>Distance — </a:t>
            </a:r>
            <a:r>
              <a:rPr sz="1550" b="0">
                <a:solidFill>
                  <a:srgbClr val="17303F"/>
                </a:solidFill>
                <a:latin typeface="Calibri"/>
              </a:rPr>
              <a:t>fires the moment you cross a set radius from your pin. Ideal for a fixed stop like a single station.</a:t>
            </a:r>
          </a:p>
          <a:p>
            <a:pPr marL="182880" indent="-182880" algn="l">
              <a:lnSpc>
                <a:spcPct val="118000"/>
              </a:lnSpc>
              <a:spcAft>
                <a:spcPts val="1400"/>
              </a:spcAft>
              <a:buClr>
                <a:srgbClr val="E8282B"/>
              </a:buClr>
              <a:buFont typeface="Arial"/>
              <a:buChar char="•"/>
            </a:pPr>
            <a:r>
              <a:rPr sz="1550" b="1">
                <a:solidFill>
                  <a:srgbClr val="17303F"/>
                </a:solidFill>
                <a:latin typeface="Calibri"/>
              </a:rPr>
              <a:t>Time before arrival — </a:t>
            </a:r>
            <a:r>
              <a:rPr sz="1550" b="0">
                <a:solidFill>
                  <a:srgbClr val="17303F"/>
                </a:solidFill>
                <a:latin typeface="Calibri"/>
              </a:rPr>
              <a:t>fires a set number of minutes before you get there, based on your travel speed — perfect for “wake me 5 minutes before my stop.”</a:t>
            </a:r>
          </a:p>
          <a:p>
            <a:pPr marL="182880" indent="-182880" algn="l">
              <a:lnSpc>
                <a:spcPct val="118000"/>
              </a:lnSpc>
              <a:spcAft>
                <a:spcPts val="1400"/>
              </a:spcAft>
              <a:buClr>
                <a:srgbClr val="E8282B"/>
              </a:buClr>
              <a:buFont typeface="Arial"/>
              <a:buChar char="•"/>
            </a:pPr>
            <a:r>
              <a:rPr sz="1550" b="1">
                <a:solidFill>
                  <a:srgbClr val="17303F"/>
                </a:solidFill>
                <a:latin typeface="Calibri"/>
              </a:rPr>
              <a:t>Every radius, adjustable — </a:t>
            </a:r>
            <a:r>
              <a:rPr sz="1550" b="0">
                <a:solidFill>
                  <a:srgbClr val="17303F"/>
                </a:solidFill>
                <a:latin typeface="Calibri"/>
              </a:rPr>
              <a:t>200 m suits a single station; 500–1,000 m gives extra time near a town center or airport.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818120" y="1417320"/>
            <a:ext cx="3566160" cy="4709160"/>
          </a:xfrm>
          <a:prstGeom prst="roundRect">
            <a:avLst>
              <a:gd name="adj" fmla="val 6000"/>
            </a:avLst>
          </a:prstGeom>
          <a:solidFill>
            <a:srgbClr val="1A3A52"/>
          </a:solidFill>
          <a:ln>
            <a:noFill/>
          </a:ln>
          <a:effectLst>
            <a:outerShdw blurRad="90000" dist="30000" dir="5400000" rotWithShape="0">
              <a:srgbClr val="0F2836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Oval 5"/>
          <p:cNvSpPr/>
          <p:nvPr/>
        </p:nvSpPr>
        <p:spPr>
          <a:xfrm>
            <a:off x="8892540" y="2080260"/>
            <a:ext cx="1417320" cy="1417320"/>
          </a:xfrm>
          <a:prstGeom prst="ellipse">
            <a:avLst/>
          </a:prstGeom>
          <a:solidFill>
            <a:srgbClr val="0F28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7" name="Picture 6" descr="gauge_F5C84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232696" y="2420416"/>
            <a:ext cx="737006" cy="737006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8183880" y="3794760"/>
            <a:ext cx="2834640" cy="21031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30000"/>
              </a:lnSpc>
            </a:pPr>
            <a:r>
              <a:rPr sz="1300" b="0" i="0">
                <a:solidFill>
                  <a:srgbClr val="B9C6CE"/>
                </a:solidFill>
                <a:latin typeface="Calibri"/>
              </a:rPr>
              <a:t>Time mode is ideal for napping on a train or bus — it adapts to how fast you're actually moving.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1323015" y="6025896"/>
            <a:ext cx="603504" cy="603504"/>
          </a:xfrm>
          <a:prstGeom prst="roundRect">
            <a:avLst>
              <a:gd name="adj" fmla="val 32000"/>
            </a:avLst>
          </a:prstGeom>
          <a:solidFill>
            <a:srgbClr val="FFFFFF"/>
          </a:solidFill>
          <a:ln>
            <a:noFill/>
          </a:ln>
          <a:effectLst>
            <a:outerShdw blurRad="90000" dist="30000" dir="5400000" rotWithShape="0">
              <a:srgbClr val="0F2836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0" name="Picture 9" descr="app_icon_roun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368735" y="6071616"/>
            <a:ext cx="512064" cy="512064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502920" y="6455664"/>
            <a:ext cx="45720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0" i="0">
                <a:solidFill>
                  <a:srgbClr val="5C7182"/>
                </a:solidFill>
                <a:latin typeface="Calibri"/>
              </a:rPr>
              <a:t>GeoNap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7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457200"/>
            <a:ext cx="73152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1" i="0" spc="160">
                <a:solidFill>
                  <a:srgbClr val="C89E28"/>
                </a:solidFill>
                <a:latin typeface="Calibri"/>
              </a:rPr>
              <a:t>GO ANYWHERE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49808"/>
            <a:ext cx="9997135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2000"/>
              </a:lnSpc>
            </a:pPr>
            <a:r>
              <a:rPr sz="3000" b="1" i="0">
                <a:solidFill>
                  <a:srgbClr val="1A3A52"/>
                </a:solidFill>
                <a:latin typeface="Cambria"/>
              </a:rPr>
              <a:t>Worldwide Transit, In Your Language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874519"/>
            <a:ext cx="6720840" cy="42062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182880" indent="-182880" algn="l">
              <a:lnSpc>
                <a:spcPct val="118000"/>
              </a:lnSpc>
              <a:spcAft>
                <a:spcPts val="1400"/>
              </a:spcAft>
              <a:buClr>
                <a:srgbClr val="E8282B"/>
              </a:buClr>
              <a:buFont typeface="Arial"/>
              <a:buChar char="•"/>
            </a:pPr>
            <a:r>
              <a:rPr sz="1550" b="1">
                <a:solidFill>
                  <a:srgbClr val="17303F"/>
                </a:solidFill>
                <a:latin typeface="Calibri"/>
              </a:rPr>
              <a:t>Preloaded agencies — </a:t>
            </a:r>
            <a:r>
              <a:rPr sz="1550" b="0">
                <a:solidFill>
                  <a:srgbClr val="17303F"/>
                </a:solidFill>
                <a:latin typeface="Calibri"/>
              </a:rPr>
              <a:t>Amtrak, BART, MBTA, CTA, GO Transit, and more, ready out of the box.</a:t>
            </a:r>
          </a:p>
          <a:p>
            <a:pPr marL="182880" indent="-182880" algn="l">
              <a:lnSpc>
                <a:spcPct val="118000"/>
              </a:lnSpc>
              <a:spcAft>
                <a:spcPts val="1400"/>
              </a:spcAft>
              <a:buClr>
                <a:srgbClr val="E8282B"/>
              </a:buClr>
              <a:buFont typeface="Arial"/>
              <a:buChar char="•"/>
            </a:pPr>
            <a:r>
              <a:rPr sz="1550" b="1">
                <a:solidFill>
                  <a:srgbClr val="17303F"/>
                </a:solidFill>
                <a:latin typeface="Calibri"/>
              </a:rPr>
              <a:t>Any public feed — </a:t>
            </a:r>
            <a:r>
              <a:rPr sz="1550" b="0">
                <a:solidFill>
                  <a:srgbClr val="17303F"/>
                </a:solidFill>
                <a:latin typeface="Calibri"/>
              </a:rPr>
              <a:t>add any transit agency worldwide with a public GTFS feed URL.</a:t>
            </a:r>
          </a:p>
          <a:p>
            <a:pPr marL="182880" indent="-182880" algn="l">
              <a:lnSpc>
                <a:spcPct val="118000"/>
              </a:lnSpc>
              <a:spcAft>
                <a:spcPts val="1400"/>
              </a:spcAft>
              <a:buClr>
                <a:srgbClr val="E8282B"/>
              </a:buClr>
              <a:buFont typeface="Arial"/>
              <a:buChar char="•"/>
            </a:pPr>
            <a:r>
              <a:rPr sz="1550" b="1">
                <a:solidFill>
                  <a:srgbClr val="17303F"/>
                </a:solidFill>
                <a:latin typeface="Calibri"/>
              </a:rPr>
              <a:t>13 languages — </a:t>
            </a:r>
            <a:r>
              <a:rPr sz="1550" b="0">
                <a:solidFill>
                  <a:srgbClr val="17303F"/>
                </a:solidFill>
                <a:latin typeface="Calibri"/>
              </a:rPr>
              <a:t>English, Spanish, French, German, Italian, Portuguese, Arabic, Hindi, Japanese, Simplified Chinese, Russian, Thai, and Vietnamese.</a:t>
            </a:r>
          </a:p>
          <a:p>
            <a:pPr marL="182880" indent="-182880" algn="l">
              <a:lnSpc>
                <a:spcPct val="118000"/>
              </a:lnSpc>
              <a:spcAft>
                <a:spcPts val="1400"/>
              </a:spcAft>
              <a:buClr>
                <a:srgbClr val="E8282B"/>
              </a:buClr>
              <a:buFont typeface="Arial"/>
              <a:buChar char="•"/>
            </a:pPr>
            <a:r>
              <a:rPr sz="1550" b="1">
                <a:solidFill>
                  <a:srgbClr val="17303F"/>
                </a:solidFill>
                <a:latin typeface="Calibri"/>
              </a:rPr>
              <a:t>Bundled travel sounds — </a:t>
            </a:r>
            <a:r>
              <a:rPr sz="1550" b="0">
                <a:solidFill>
                  <a:srgbClr val="17303F"/>
                </a:solidFill>
                <a:latin typeface="Calibri"/>
              </a:rPr>
              <a:t>boat horn, cable car bell, steam train, sailboat bell, airplane landing, airport chime, or vibrate only.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818120" y="1417320"/>
            <a:ext cx="3566160" cy="4709160"/>
          </a:xfrm>
          <a:prstGeom prst="roundRect">
            <a:avLst>
              <a:gd name="adj" fmla="val 6000"/>
            </a:avLst>
          </a:prstGeom>
          <a:solidFill>
            <a:srgbClr val="1A3A52"/>
          </a:solidFill>
          <a:ln>
            <a:noFill/>
          </a:ln>
          <a:effectLst>
            <a:outerShdw blurRad="90000" dist="30000" dir="5400000" rotWithShape="0">
              <a:srgbClr val="0F2836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Oval 5"/>
          <p:cNvSpPr/>
          <p:nvPr/>
        </p:nvSpPr>
        <p:spPr>
          <a:xfrm>
            <a:off x="8892540" y="2080260"/>
            <a:ext cx="1417320" cy="1417320"/>
          </a:xfrm>
          <a:prstGeom prst="ellipse">
            <a:avLst/>
          </a:prstGeom>
          <a:solidFill>
            <a:srgbClr val="0F28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7" name="Picture 6" descr="globe_F5C84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232696" y="2420416"/>
            <a:ext cx="737006" cy="737006"/>
          </a:xfrm>
          <a:prstGeom prst="rect">
            <a:avLst/>
          </a:prstGeom>
        </p:spPr>
      </p:pic>
      <p:sp>
        <p:nvSpPr>
          <p:cNvPr id="8" name="Rounded Rectangle 7"/>
          <p:cNvSpPr/>
          <p:nvPr/>
        </p:nvSpPr>
        <p:spPr>
          <a:xfrm>
            <a:off x="11323015" y="6025896"/>
            <a:ext cx="603504" cy="603504"/>
          </a:xfrm>
          <a:prstGeom prst="roundRect">
            <a:avLst>
              <a:gd name="adj" fmla="val 32000"/>
            </a:avLst>
          </a:prstGeom>
          <a:solidFill>
            <a:srgbClr val="FFFFFF"/>
          </a:solidFill>
          <a:ln>
            <a:noFill/>
          </a:ln>
          <a:effectLst>
            <a:outerShdw blurRad="90000" dist="30000" dir="5400000" rotWithShape="0">
              <a:srgbClr val="0F2836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9" name="Picture 8" descr="app_icon_roun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368735" y="6071616"/>
            <a:ext cx="512064" cy="512064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502920" y="6455664"/>
            <a:ext cx="45720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0" i="0">
                <a:solidFill>
                  <a:srgbClr val="5C7182"/>
                </a:solidFill>
                <a:latin typeface="Calibri"/>
              </a:rPr>
              <a:t>GeoNap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3A5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22960" y="594360"/>
            <a:ext cx="73152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1" i="0" spc="160">
                <a:solidFill>
                  <a:srgbClr val="F5C842"/>
                </a:solidFill>
                <a:latin typeface="Calibri"/>
              </a:rPr>
              <a:t>BUILT ON TRUST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896112"/>
            <a:ext cx="10545775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Cambria"/>
              </a:rPr>
              <a:t>Your Location. Your Calendar. Your Control.</a:t>
            </a:r>
          </a:p>
        </p:txBody>
      </p:sp>
      <p:sp>
        <p:nvSpPr>
          <p:cNvPr id="4" name="Oval 3"/>
          <p:cNvSpPr/>
          <p:nvPr/>
        </p:nvSpPr>
        <p:spPr>
          <a:xfrm>
            <a:off x="1097279" y="2468879"/>
            <a:ext cx="1554480" cy="1554480"/>
          </a:xfrm>
          <a:prstGeom prst="ellipse">
            <a:avLst/>
          </a:prstGeom>
          <a:solidFill>
            <a:srgbClr val="0F28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5" name="Picture 4" descr="shield_F5C84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70355" y="2841955"/>
            <a:ext cx="808329" cy="808329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3063240" y="2331720"/>
            <a:ext cx="8442655" cy="17373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2200" b="1" i="0">
                <a:solidFill>
                  <a:srgbClr val="FFFFFF"/>
                </a:solidFill>
                <a:latin typeface="Cambria"/>
              </a:rPr>
              <a:t>Calendar data is read entirely on your device and never uploaded or shared.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063240" y="4160520"/>
            <a:ext cx="8442655" cy="19202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182880" indent="-182880" algn="l">
              <a:lnSpc>
                <a:spcPct val="120000"/>
              </a:lnSpc>
              <a:spcAft>
                <a:spcPts val="800"/>
              </a:spcAft>
              <a:buClr>
                <a:srgbClr val="F5C842"/>
              </a:buClr>
              <a:buFont typeface="Arial"/>
              <a:buChar char="•"/>
            </a:pPr>
            <a:r>
              <a:rPr sz="1350" b="0">
                <a:solidFill>
                  <a:srgbClr val="B9C6CE"/>
                </a:solidFill>
                <a:latin typeface="Calibri"/>
              </a:rPr>
              <a:t>Calendar Scanning is off by default — you turn it on, and you choose which calendars to include.</a:t>
            </a:r>
          </a:p>
          <a:p>
            <a:pPr marL="182880" indent="-182880" algn="l">
              <a:lnSpc>
                <a:spcPct val="120000"/>
              </a:lnSpc>
              <a:spcAft>
                <a:spcPts val="800"/>
              </a:spcAft>
              <a:buClr>
                <a:srgbClr val="F5C842"/>
              </a:buClr>
              <a:buFont typeface="Arial"/>
              <a:buChar char="•"/>
            </a:pPr>
            <a:r>
              <a:rPr sz="1350" b="0">
                <a:solidFill>
                  <a:srgbClr val="B9C6CE"/>
                </a:solidFill>
                <a:latin typeface="Calibri"/>
              </a:rPr>
              <a:t>Every suggested alarm is reviewed by you first; nothing is added automatically.</a:t>
            </a:r>
          </a:p>
          <a:p>
            <a:pPr marL="182880" indent="-182880" algn="l">
              <a:lnSpc>
                <a:spcPct val="120000"/>
              </a:lnSpc>
              <a:spcAft>
                <a:spcPts val="800"/>
              </a:spcAft>
              <a:buClr>
                <a:srgbClr val="F5C842"/>
              </a:buClr>
              <a:buFont typeface="Arial"/>
              <a:buChar char="•"/>
            </a:pPr>
            <a:r>
              <a:rPr sz="1350" b="0">
                <a:solidFill>
                  <a:srgbClr val="B9C6CE"/>
                </a:solidFill>
                <a:latin typeface="Calibri"/>
              </a:rPr>
              <a:t>Full disclosure of how location data is handled is always one tap away in Settings.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1323015" y="6025896"/>
            <a:ext cx="603504" cy="603504"/>
          </a:xfrm>
          <a:prstGeom prst="roundRect">
            <a:avLst>
              <a:gd name="adj" fmla="val 32000"/>
            </a:avLst>
          </a:prstGeom>
          <a:solidFill>
            <a:srgbClr val="FFFFFF"/>
          </a:solidFill>
          <a:ln>
            <a:noFill/>
          </a:ln>
          <a:effectLst>
            <a:outerShdw blurRad="90000" dist="30000" dir="5400000" rotWithShape="0">
              <a:srgbClr val="0F2836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9" name="Picture 8" descr="app_icon_roun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368735" y="6071616"/>
            <a:ext cx="512064" cy="512064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3A5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1"/>
          <p:cNvSpPr txBox="1"/>
          <p:nvPr/>
        </p:nvSpPr>
        <p:spPr>
          <a:xfrm>
            <a:off x="548640" y="457200"/>
            <a:ext cx="73152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1" i="0" spc="160">
                <a:solidFill>
                  <a:srgbClr val="F5C842"/>
                </a:solidFill>
                <a:latin typeface="Calibri"/>
              </a:rPr>
              <a:t>YOUR DATA, YOUR CONTROL</a:t>
            </a:r>
          </a:p>
        </p:txBody>
      </p:sp>
      <p:sp>
        <p:nvSpPr>
          <p:cNvPr id="4" name="TextBox 2"/>
          <p:cNvSpPr txBox="1"/>
          <p:nvPr/>
        </p:nvSpPr>
        <p:spPr>
          <a:xfrm>
            <a:off x="548640" y="749808"/>
            <a:ext cx="9997135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2000"/>
              </a:lnSpc>
            </a:pPr>
            <a:r>
              <a:rPr sz="3000" b="1" i="0">
                <a:solidFill>
                  <a:srgbClr val="FFFFFF"/>
                </a:solidFill>
                <a:latin typeface="Cambria"/>
              </a:rPr>
              <a:t>Privacy at a Glance</a:t>
            </a:r>
          </a:p>
        </p:txBody>
      </p:sp>
      <p:sp>
        <p:nvSpPr>
          <p:cNvPr id="5" name="Rounded Rectangle"/>
          <p:cNvSpPr/>
          <p:nvPr/>
        </p:nvSpPr>
        <p:spPr>
          <a:xfrm>
            <a:off x="548640" y="1874519"/>
            <a:ext cx="5364327" cy="2148840"/>
          </a:xfrm>
          <a:prstGeom prst="roundRect">
            <a:avLst>
              <a:gd name="adj" fmla="val 7000"/>
            </a:avLst>
          </a:prstGeom>
          <a:solidFill>
            <a:srgbClr val="2445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Oval"/>
          <p:cNvSpPr/>
          <p:nvPr/>
        </p:nvSpPr>
        <p:spPr>
          <a:xfrm>
            <a:off x="822960" y="2619756"/>
            <a:ext cx="658368" cy="658368"/>
          </a:xfrm>
          <a:prstGeom prst="ellipse">
            <a:avLst/>
          </a:prstGeom>
          <a:solidFill>
            <a:srgbClr val="0F28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7" name="Picture" descr="privacy_ic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0968" y="2777764"/>
            <a:ext cx="342351" cy="342351"/>
          </a:xfrm>
          <a:prstGeom prst="rect">
            <a:avLst/>
          </a:prstGeom>
        </p:spPr>
      </p:pic>
      <p:sp>
        <p:nvSpPr>
          <p:cNvPr id="8" name="TextBox Header"/>
          <p:cNvSpPr txBox="1"/>
          <p:nvPr/>
        </p:nvSpPr>
        <p:spPr>
          <a:xfrm>
            <a:off x="1645919" y="2075688"/>
            <a:ext cx="4038447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50" b="1" i="0">
                <a:solidFill>
                  <a:srgbClr val="FFFFFF"/>
                </a:solidFill>
                <a:latin typeface="Cambria"/>
              </a:rPr>
              <a:t>Location</a:t>
            </a:r>
          </a:p>
        </p:txBody>
      </p:sp>
      <p:sp>
        <p:nvSpPr>
          <p:cNvPr id="9" name="TextBox Body"/>
          <p:cNvSpPr txBox="1"/>
          <p:nvPr/>
        </p:nvSpPr>
        <p:spPr>
          <a:xfrm>
            <a:off x="1645919" y="2441448"/>
            <a:ext cx="4038447" cy="1417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1200" b="0" i="0">
                <a:solidFill>
                  <a:srgbClr val="B9C6CE"/>
                </a:solidFill>
                <a:latin typeface="Calibri"/>
              </a:rPr>
              <a:t>Processed entirely on your device — never sent to any server I operate, and kept only as long as needed to trigger your alarm.</a:t>
            </a:r>
          </a:p>
        </p:txBody>
      </p:sp>
      <p:sp>
        <p:nvSpPr>
          <p:cNvPr id="10" name="Rounded Rectangle"/>
          <p:cNvSpPr/>
          <p:nvPr/>
        </p:nvSpPr>
        <p:spPr>
          <a:xfrm>
            <a:off x="6278727" y="1874519"/>
            <a:ext cx="5364327" cy="2148840"/>
          </a:xfrm>
          <a:prstGeom prst="roundRect">
            <a:avLst>
              <a:gd name="adj" fmla="val 7000"/>
            </a:avLst>
          </a:prstGeom>
          <a:solidFill>
            <a:srgbClr val="2445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Oval"/>
          <p:cNvSpPr/>
          <p:nvPr/>
        </p:nvSpPr>
        <p:spPr>
          <a:xfrm>
            <a:off x="6553047" y="2619756"/>
            <a:ext cx="658368" cy="658368"/>
          </a:xfrm>
          <a:prstGeom prst="ellipse">
            <a:avLst/>
          </a:prstGeom>
          <a:solidFill>
            <a:srgbClr val="0F28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2" name="Picture" descr="privacy_ico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11055" y="2777764"/>
            <a:ext cx="342351" cy="342351"/>
          </a:xfrm>
          <a:prstGeom prst="rect">
            <a:avLst/>
          </a:prstGeom>
        </p:spPr>
      </p:pic>
      <p:sp>
        <p:nvSpPr>
          <p:cNvPr id="13" name="TextBox Header"/>
          <p:cNvSpPr txBox="1"/>
          <p:nvPr/>
        </p:nvSpPr>
        <p:spPr>
          <a:xfrm>
            <a:off x="7376006" y="2075688"/>
            <a:ext cx="4038447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50" b="1" i="0">
                <a:solidFill>
                  <a:srgbClr val="FFFFFF"/>
                </a:solidFill>
                <a:latin typeface="Cambria"/>
              </a:rPr>
              <a:t>Auto-Notify Contacts</a:t>
            </a:r>
          </a:p>
        </p:txBody>
      </p:sp>
      <p:sp>
        <p:nvSpPr>
          <p:cNvPr id="14" name="TextBox Body"/>
          <p:cNvSpPr txBox="1"/>
          <p:nvPr/>
        </p:nvSpPr>
        <p:spPr>
          <a:xfrm>
            <a:off x="7376006" y="2441448"/>
            <a:ext cx="4038447" cy="1417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1200" b="0" i="0">
                <a:solidFill>
                  <a:srgbClr val="B9C6CE"/>
                </a:solidFill>
                <a:latin typeface="Calibri"/>
              </a:rPr>
              <a:t>Only the contact(s) you pick via Apple’s contact picker — just a name and phone number or email. No bulk access to your address book.</a:t>
            </a:r>
          </a:p>
        </p:txBody>
      </p:sp>
      <p:sp>
        <p:nvSpPr>
          <p:cNvPr id="15" name="Rounded Rectangle"/>
          <p:cNvSpPr/>
          <p:nvPr/>
        </p:nvSpPr>
        <p:spPr>
          <a:xfrm>
            <a:off x="548640" y="4343400"/>
            <a:ext cx="5364327" cy="2148840"/>
          </a:xfrm>
          <a:prstGeom prst="roundRect">
            <a:avLst>
              <a:gd name="adj" fmla="val 7000"/>
            </a:avLst>
          </a:prstGeom>
          <a:solidFill>
            <a:srgbClr val="2445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Oval"/>
          <p:cNvSpPr/>
          <p:nvPr/>
        </p:nvSpPr>
        <p:spPr>
          <a:xfrm>
            <a:off x="822960" y="5088637"/>
            <a:ext cx="658368" cy="658368"/>
          </a:xfrm>
          <a:prstGeom prst="ellipse">
            <a:avLst/>
          </a:prstGeom>
          <a:solidFill>
            <a:srgbClr val="0F28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7" name="Picture" descr="privacy_icon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80968" y="5246645"/>
            <a:ext cx="342351" cy="342351"/>
          </a:xfrm>
          <a:prstGeom prst="rect">
            <a:avLst/>
          </a:prstGeom>
        </p:spPr>
      </p:pic>
      <p:sp>
        <p:nvSpPr>
          <p:cNvPr id="18" name="TextBox Header"/>
          <p:cNvSpPr txBox="1"/>
          <p:nvPr/>
        </p:nvSpPr>
        <p:spPr>
          <a:xfrm>
            <a:off x="1645919" y="4544569"/>
            <a:ext cx="4038447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50" b="1" i="0">
                <a:solidFill>
                  <a:srgbClr val="FFFFFF"/>
                </a:solidFill>
                <a:latin typeface="Cambria"/>
              </a:rPr>
              <a:t>Apple Watch</a:t>
            </a:r>
          </a:p>
        </p:txBody>
      </p:sp>
      <p:sp>
        <p:nvSpPr>
          <p:cNvPr id="19" name="TextBox Body"/>
          <p:cNvSpPr txBox="1"/>
          <p:nvPr/>
        </p:nvSpPr>
        <p:spPr>
          <a:xfrm>
            <a:off x="1645919" y="4910329"/>
            <a:ext cx="4038447" cy="1417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1200" b="0" i="0">
                <a:solidFill>
                  <a:srgbClr val="B9C6CE"/>
                </a:solidFill>
                <a:latin typeface="Calibri"/>
              </a:rPr>
              <a:t>Alarms sync device-to-device via WatchConnectivity and live in a local App Group on your Watch — never synced to iCloud from the Watch.</a:t>
            </a:r>
          </a:p>
        </p:txBody>
      </p:sp>
      <p:sp>
        <p:nvSpPr>
          <p:cNvPr id="20" name="Rounded Rectangle"/>
          <p:cNvSpPr/>
          <p:nvPr/>
        </p:nvSpPr>
        <p:spPr>
          <a:xfrm>
            <a:off x="6278727" y="4343400"/>
            <a:ext cx="5364327" cy="2148840"/>
          </a:xfrm>
          <a:prstGeom prst="roundRect">
            <a:avLst>
              <a:gd name="adj" fmla="val 7000"/>
            </a:avLst>
          </a:prstGeom>
          <a:solidFill>
            <a:srgbClr val="2445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Oval"/>
          <p:cNvSpPr/>
          <p:nvPr/>
        </p:nvSpPr>
        <p:spPr>
          <a:xfrm>
            <a:off x="6553047" y="5088637"/>
            <a:ext cx="658368" cy="658368"/>
          </a:xfrm>
          <a:prstGeom prst="ellipse">
            <a:avLst/>
          </a:prstGeom>
          <a:solidFill>
            <a:srgbClr val="0F28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22" name="Picture" descr="privacy_icon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711055" y="5246645"/>
            <a:ext cx="342351" cy="342351"/>
          </a:xfrm>
          <a:prstGeom prst="rect">
            <a:avLst/>
          </a:prstGeom>
        </p:spPr>
      </p:pic>
      <p:sp>
        <p:nvSpPr>
          <p:cNvPr id="23" name="TextBox Header"/>
          <p:cNvSpPr txBox="1"/>
          <p:nvPr/>
        </p:nvSpPr>
        <p:spPr>
          <a:xfrm>
            <a:off x="7376006" y="4544569"/>
            <a:ext cx="4038447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50" b="1" i="0">
                <a:solidFill>
                  <a:srgbClr val="FFFFFF"/>
                </a:solidFill>
                <a:latin typeface="Cambria"/>
              </a:rPr>
              <a:t>Diagnostics</a:t>
            </a:r>
          </a:p>
        </p:txBody>
      </p:sp>
      <p:sp>
        <p:nvSpPr>
          <p:cNvPr id="24" name="TextBox Body"/>
          <p:cNvSpPr txBox="1"/>
          <p:nvPr/>
        </p:nvSpPr>
        <p:spPr>
          <a:xfrm>
            <a:off x="7376006" y="4910329"/>
            <a:ext cx="4038447" cy="1417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1200" b="0" i="0">
                <a:solidFill>
                  <a:srgbClr val="B9C6CE"/>
                </a:solidFill>
                <a:latin typeface="Calibri"/>
              </a:rPr>
              <a:t>Crash and error logging happens entirely on-device via Apple’s own OSLog — no third-party crash SDK, nothing ever leaves your device.</a:t>
            </a:r>
          </a:p>
        </p:txBody>
      </p:sp>
      <p:sp>
        <p:nvSpPr>
          <p:cNvPr id="25" name="Rounded Rectangle Badge"/>
          <p:cNvSpPr/>
          <p:nvPr/>
        </p:nvSpPr>
        <p:spPr>
          <a:xfrm>
            <a:off x="11323015" y="6025896"/>
            <a:ext cx="603504" cy="603504"/>
          </a:xfrm>
          <a:prstGeom prst="roundRect">
            <a:avLst>
              <a:gd name="adj" fmla="val 32000"/>
            </a:avLst>
          </a:prstGeom>
          <a:solidFill>
            <a:srgbClr val="FFFFFF"/>
          </a:solidFill>
          <a:ln>
            <a:noFill/>
          </a:ln>
          <a:effectLst>
            <a:outerShdw blurRad="90000" dist="30000" dir="5400000" rotWithShape="0">
              <a:srgbClr val="0F2836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26" name="Picture Logo" descr="app_icon_roun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1368735" y="6071616"/>
            <a:ext cx="512064" cy="512064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7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457200"/>
            <a:ext cx="73152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1" i="0" spc="160">
                <a:solidFill>
                  <a:srgbClr val="C89E28"/>
                </a:solidFill>
                <a:latin typeface="Calibri"/>
              </a:rPr>
              <a:t>AVAILABILITY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49808"/>
            <a:ext cx="9997135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2000"/>
              </a:lnSpc>
            </a:pPr>
            <a:r>
              <a:rPr sz="3000" b="1" i="0">
                <a:solidFill>
                  <a:srgbClr val="1A3A52"/>
                </a:solidFill>
                <a:latin typeface="Cambria"/>
              </a:rPr>
              <a:t>Where GeoNap Runs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02356154"/>
              </p:ext>
            </p:extLst>
          </p:nvPr>
        </p:nvGraphicFramePr>
        <p:xfrm>
          <a:off x="548640" y="1298446"/>
          <a:ext cx="11091672" cy="515721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9260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16559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859536"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Device</a:t>
                      </a:r>
                    </a:p>
                  </a:txBody>
                  <a:tcPr marL="109728" marT="54864" marB="54864" anchor="ctr">
                    <a:solidFill>
                      <a:srgbClr val="1A3A5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Requirement</a:t>
                      </a:r>
                    </a:p>
                  </a:txBody>
                  <a:tcPr marL="109728" marT="54864" marB="54864" anchor="ctr">
                    <a:solidFill>
                      <a:srgbClr val="1A3A5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859536">
                <a:tc>
                  <a:txBody>
                    <a:bodyPr/>
                    <a:lstStyle/>
                    <a:p>
                      <a:pPr>
                        <a:defRPr sz="1250" b="1">
                          <a:solidFill>
                            <a:srgbClr val="17303F"/>
                          </a:solidFill>
                          <a:latin typeface="Calibri"/>
                        </a:defRPr>
                      </a:pPr>
                      <a:r>
                        <a:t>iPhone</a:t>
                      </a:r>
                    </a:p>
                  </a:txBody>
                  <a:tcPr marL="10972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50" b="0">
                          <a:solidFill>
                            <a:srgbClr val="17303F"/>
                          </a:solidFill>
                          <a:latin typeface="Calibri"/>
                        </a:defRPr>
                      </a:pPr>
                      <a:r>
                        <a:t>iOS 26.0 or later</a:t>
                      </a:r>
                    </a:p>
                  </a:txBody>
                  <a:tcPr marL="109728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859536">
                <a:tc>
                  <a:txBody>
                    <a:bodyPr/>
                    <a:lstStyle/>
                    <a:p>
                      <a:pPr>
                        <a:defRPr sz="1250" b="1">
                          <a:solidFill>
                            <a:srgbClr val="17303F"/>
                          </a:solidFill>
                          <a:latin typeface="Calibri"/>
                        </a:defRPr>
                      </a:pPr>
                      <a:r>
                        <a:t>iPad</a:t>
                      </a:r>
                    </a:p>
                  </a:txBody>
                  <a:tcPr marL="109728" anchor="ctr">
                    <a:solidFill>
                      <a:srgbClr val="EFF2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50" b="0">
                          <a:solidFill>
                            <a:srgbClr val="17303F"/>
                          </a:solidFill>
                          <a:latin typeface="Calibri"/>
                        </a:defRPr>
                      </a:pPr>
                      <a:r>
                        <a:t>iPadOS 26.0 or later</a:t>
                      </a:r>
                    </a:p>
                  </a:txBody>
                  <a:tcPr marL="109728" anchor="ctr">
                    <a:solidFill>
                      <a:srgbClr val="EFF2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859536">
                <a:tc>
                  <a:txBody>
                    <a:bodyPr/>
                    <a:lstStyle/>
                    <a:p>
                      <a:pPr>
                        <a:defRPr sz="1250" b="1">
                          <a:solidFill>
                            <a:srgbClr val="17303F"/>
                          </a:solidFill>
                          <a:latin typeface="Calibri"/>
                        </a:defRPr>
                      </a:pPr>
                      <a:r>
                        <a:t>Apple Watch</a:t>
                      </a:r>
                    </a:p>
                  </a:txBody>
                  <a:tcPr marL="10972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50" b="0">
                          <a:solidFill>
                            <a:srgbClr val="17303F"/>
                          </a:solidFill>
                          <a:latin typeface="Calibri"/>
                        </a:defRPr>
                      </a:pPr>
                      <a:r>
                        <a:rPr dirty="0"/>
                        <a:t>watchOS 26.0 or later (companion features)</a:t>
                      </a:r>
                    </a:p>
                  </a:txBody>
                  <a:tcPr marL="109728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859536">
                <a:tc>
                  <a:txBody>
                    <a:bodyPr/>
                    <a:lstStyle/>
                    <a:p>
                      <a:pPr marL="0" algn="l" defTabSz="457200" rtl="0" eaLnBrk="1" latinLnBrk="0" hangingPunct="1">
                        <a:defRPr sz="1250" b="1">
                          <a:solidFill>
                            <a:srgbClr val="17303F"/>
                          </a:solidFill>
                          <a:latin typeface="Calibri"/>
                        </a:defRPr>
                      </a:pPr>
                      <a:r>
                        <a:rPr lang="en-US" sz="1250" b="1" kern="1200" dirty="0">
                          <a:solidFill>
                            <a:srgbClr val="17303F"/>
                          </a:solidFill>
                          <a:latin typeface="Calibri"/>
                          <a:ea typeface="+mn-ea"/>
                          <a:cs typeface="+mn-cs"/>
                        </a:rPr>
                        <a:t>Car Play / Apple Shortcuts</a:t>
                      </a:r>
                      <a:endParaRPr sz="1250" b="1" kern="1200" dirty="0">
                        <a:solidFill>
                          <a:srgbClr val="17303F"/>
                        </a:solidFill>
                        <a:latin typeface="Calibri"/>
                        <a:ea typeface="+mn-ea"/>
                        <a:cs typeface="+mn-cs"/>
                      </a:endParaRPr>
                    </a:p>
                  </a:txBody>
                  <a:tcPr marL="109728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457200" rtl="0" eaLnBrk="1" latinLnBrk="0" hangingPunct="1">
                        <a:defRPr sz="1250" b="1">
                          <a:solidFill>
                            <a:srgbClr val="17303F"/>
                          </a:solidFill>
                          <a:latin typeface="Calibri"/>
                        </a:defRPr>
                      </a:pPr>
                      <a:r>
                        <a:rPr lang="en-US" sz="1250" b="1" kern="1200" dirty="0">
                          <a:solidFill>
                            <a:srgbClr val="17303F"/>
                          </a:solidFill>
                          <a:latin typeface="Calibri"/>
                          <a:ea typeface="+mn-ea"/>
                          <a:cs typeface="+mn-cs"/>
                        </a:rPr>
                        <a:t>Supported</a:t>
                      </a:r>
                      <a:endParaRPr sz="1250" b="1" kern="1200" dirty="0">
                        <a:solidFill>
                          <a:srgbClr val="17303F"/>
                        </a:solidFill>
                        <a:latin typeface="Calibri"/>
                        <a:ea typeface="+mn-ea"/>
                        <a:cs typeface="+mn-cs"/>
                      </a:endParaRPr>
                    </a:p>
                  </a:txBody>
                  <a:tcPr marL="109728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41994490"/>
                  </a:ext>
                </a:extLst>
              </a:tr>
              <a:tr h="859536">
                <a:tc>
                  <a:txBody>
                    <a:bodyPr/>
                    <a:lstStyle/>
                    <a:p>
                      <a:pPr>
                        <a:defRPr sz="1250" b="1">
                          <a:solidFill>
                            <a:srgbClr val="17303F"/>
                          </a:solidFill>
                          <a:latin typeface="Calibri"/>
                        </a:defRPr>
                      </a:pPr>
                      <a:r>
                        <a:rPr dirty="0"/>
                        <a:t>Connectivity</a:t>
                      </a:r>
                    </a:p>
                  </a:txBody>
                  <a:tcPr marL="109728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50" b="0">
                          <a:solidFill>
                            <a:srgbClr val="17303F"/>
                          </a:solidFill>
                          <a:latin typeface="Calibri"/>
                        </a:defRPr>
                      </a:pPr>
                      <a:r>
                        <a:rPr dirty="0"/>
                        <a:t>Offline for standard alarms; internet needed only for transit feed downloads</a:t>
                      </a:r>
                    </a:p>
                  </a:txBody>
                  <a:tcPr marL="109728" anchor="ctr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548640" y="6199631"/>
            <a:ext cx="11094415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0" i="0">
                <a:solidFill>
                  <a:srgbClr val="5C7182"/>
                </a:solidFill>
                <a:latin typeface="Calibri"/>
              </a:rPr>
              <a:t>Location Services must be set to Always so alarms can fire in the background.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1323015" y="6025896"/>
            <a:ext cx="603504" cy="603504"/>
          </a:xfrm>
          <a:prstGeom prst="roundRect">
            <a:avLst>
              <a:gd name="adj" fmla="val 32000"/>
            </a:avLst>
          </a:prstGeom>
          <a:solidFill>
            <a:srgbClr val="FFFFFF"/>
          </a:solidFill>
          <a:ln>
            <a:noFill/>
          </a:ln>
          <a:effectLst>
            <a:outerShdw blurRad="90000" dist="30000" dir="5400000" rotWithShape="0">
              <a:srgbClr val="0F2836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7" name="Picture 6" descr="app_icon_roun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368735" y="6071616"/>
            <a:ext cx="512064" cy="512064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502920" y="6455664"/>
            <a:ext cx="45720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0" i="0">
                <a:solidFill>
                  <a:srgbClr val="5C7182"/>
                </a:solidFill>
                <a:latin typeface="Calibri"/>
              </a:rPr>
              <a:t>GeoNap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7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457200"/>
            <a:ext cx="73152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1" i="0" spc="160">
                <a:solidFill>
                  <a:srgbClr val="C89E28"/>
                </a:solidFill>
                <a:latin typeface="Calibri"/>
              </a:rPr>
              <a:t>PRICING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49808"/>
            <a:ext cx="9997135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2000"/>
              </a:lnSpc>
            </a:pPr>
            <a:r>
              <a:rPr sz="3000" b="1" i="0">
                <a:solidFill>
                  <a:srgbClr val="1A3A52"/>
                </a:solidFill>
                <a:latin typeface="Cambria"/>
              </a:rPr>
              <a:t>Simple Plans for Every Traveler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816343"/>
              </p:ext>
            </p:extLst>
          </p:nvPr>
        </p:nvGraphicFramePr>
        <p:xfrm>
          <a:off x="548640" y="1700000"/>
          <a:ext cx="11091672" cy="466943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34847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80000"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rPr dirty="0"/>
                        <a:t>Plan</a:t>
                      </a:r>
                    </a:p>
                  </a:txBody>
                  <a:tcPr marL="109728" marT="54864" marB="54864" anchor="ctr">
                    <a:solidFill>
                      <a:srgbClr val="1A3A5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What's Included</a:t>
                      </a:r>
                    </a:p>
                  </a:txBody>
                  <a:tcPr marL="109728" marT="54864" marB="54864" anchor="ctr">
                    <a:solidFill>
                      <a:srgbClr val="1A3A5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860000">
                <a:tc>
                  <a:txBody>
                    <a:bodyPr/>
                    <a:lstStyle/>
                    <a:p>
                      <a:pPr>
                        <a:spcAft>
                          <a:spcPts val="200"/>
                        </a:spcAft>
                        <a:defRPr sz="1400" b="1">
                          <a:solidFill>
                            <a:srgbClr val="17303F"/>
                          </a:solidFill>
                          <a:latin typeface="Cambria"/>
                        </a:defRPr>
                      </a:pPr>
                      <a:r>
                        <a:t>Free</a:t>
                      </a:r>
                    </a:p>
                    <a:p>
                      <a:pPr>
                        <a:defRPr sz="1150" b="0">
                          <a:solidFill>
                            <a:srgbClr val="5C7182"/>
                          </a:solidFill>
                          <a:latin typeface="Calibri"/>
                        </a:defRPr>
                      </a:pPr>
                      <a:r>
                        <a:t>$0</a:t>
                      </a:r>
                    </a:p>
                  </a:txBody>
                  <a:tcPr marL="109728" marT="73152" marB="7315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171450" indent="-171450">
                        <a:spcAft>
                          <a:spcPts val="150"/>
                        </a:spcAft>
                        <a:buFont typeface="Arial"/>
                        <a:buChar char="•"/>
                      </a:pPr>
                      <a:r>
                        <a:rPr lang="en-US" sz="1050" b="0" dirty="0">
                          <a:solidFill>
                            <a:srgbClr val="17303F"/>
                          </a:solidFill>
                          <a:latin typeface="Calibri"/>
                        </a:rPr>
                        <a:t>Location</a:t>
                      </a:r>
                      <a:r>
                        <a:rPr sz="1050" b="0" dirty="0">
                          <a:solidFill>
                            <a:srgbClr val="17303F"/>
                          </a:solidFill>
                          <a:latin typeface="Calibri"/>
                        </a:rPr>
                        <a:t> alarm</a:t>
                      </a:r>
                      <a:r>
                        <a:rPr lang="en-US" sz="1050" b="0" dirty="0">
                          <a:solidFill>
                            <a:srgbClr val="17303F"/>
                          </a:solidFill>
                          <a:latin typeface="Calibri"/>
                        </a:rPr>
                        <a:t> only (no support for time based or Transit alarm creation)</a:t>
                      </a:r>
                      <a:endParaRPr sz="1050" b="0" dirty="0">
                        <a:solidFill>
                          <a:srgbClr val="17303F"/>
                        </a:solidFill>
                        <a:latin typeface="Calibri"/>
                      </a:endParaRPr>
                    </a:p>
                    <a:p>
                      <a:pPr marL="171450" indent="-171450">
                        <a:spcAft>
                          <a:spcPts val="150"/>
                        </a:spcAft>
                        <a:buFont typeface="Arial"/>
                        <a:buChar char="•"/>
                      </a:pPr>
                      <a:r>
                        <a:rPr sz="1050" b="0" dirty="0">
                          <a:solidFill>
                            <a:srgbClr val="17303F"/>
                          </a:solidFill>
                          <a:latin typeface="Calibri"/>
                        </a:rPr>
                        <a:t>One active alarm (distance-based)</a:t>
                      </a:r>
                    </a:p>
                    <a:p>
                      <a:pPr marL="171450" indent="-171450">
                        <a:spcAft>
                          <a:spcPts val="150"/>
                        </a:spcAft>
                        <a:buFont typeface="Arial"/>
                        <a:buChar char="•"/>
                      </a:pPr>
                      <a:r>
                        <a:rPr sz="1050" b="0" dirty="0">
                          <a:solidFill>
                            <a:srgbClr val="17303F"/>
                          </a:solidFill>
                          <a:latin typeface="Calibri"/>
                        </a:rPr>
                        <a:t>Default alarm sounds</a:t>
                      </a:r>
                    </a:p>
                  </a:txBody>
                  <a:tcPr marL="109728" marT="73152" marB="73152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860000">
                <a:tc>
                  <a:txBody>
                    <a:bodyPr/>
                    <a:lstStyle/>
                    <a:p>
                      <a:pPr>
                        <a:spcAft>
                          <a:spcPts val="200"/>
                        </a:spcAft>
                        <a:defRPr sz="1400" b="1">
                          <a:solidFill>
                            <a:srgbClr val="17303F"/>
                          </a:solidFill>
                          <a:latin typeface="Cambria"/>
                        </a:defRPr>
                      </a:pPr>
                      <a:r>
                        <a:rPr lang="en-US"/>
                        <a:t>Silver</a:t>
                      </a:r>
                      <a:endParaRPr dirty="0"/>
                    </a:p>
                    <a:p>
                      <a:pPr>
                        <a:defRPr sz="1150" b="0">
                          <a:solidFill>
                            <a:srgbClr val="5C7182"/>
                          </a:solidFill>
                          <a:latin typeface="Calibri"/>
                        </a:defRPr>
                      </a:pPr>
                      <a:r>
                        <a:rPr dirty="0"/>
                        <a:t>$2.99 / year</a:t>
                      </a:r>
                    </a:p>
                  </a:txBody>
                  <a:tcPr marL="109728" marT="73152" marB="73152" anchor="ctr">
                    <a:solidFill>
                      <a:srgbClr val="EFF2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150"/>
                        </a:spcAft>
                        <a:buNone/>
                      </a:pPr>
                      <a:r>
                        <a:rPr sz="1050" b="1" i="1" dirty="0">
                          <a:solidFill>
                            <a:srgbClr val="5C7182"/>
                          </a:solidFill>
                          <a:latin typeface="Calibri"/>
                        </a:rPr>
                        <a:t>Everything in Free, plus:</a:t>
                      </a:r>
                    </a:p>
                    <a:p>
                      <a:pPr marL="171450" indent="-171450">
                        <a:spcAft>
                          <a:spcPts val="150"/>
                        </a:spcAft>
                        <a:buFont typeface="Arial"/>
                        <a:buChar char="•"/>
                      </a:pPr>
                      <a:r>
                        <a:rPr sz="1050" b="0" dirty="0">
                          <a:solidFill>
                            <a:srgbClr val="17303F"/>
                          </a:solidFill>
                          <a:latin typeface="Calibri"/>
                        </a:rPr>
                        <a:t>Unlimited simultaneous alarms</a:t>
                      </a:r>
                      <a:r>
                        <a:rPr lang="en-US" sz="1050" b="0" dirty="0">
                          <a:solidFill>
                            <a:srgbClr val="17303F"/>
                          </a:solidFill>
                          <a:latin typeface="Calibri"/>
                        </a:rPr>
                        <a:t> (Location only)</a:t>
                      </a:r>
                      <a:endParaRPr sz="1050" b="0" dirty="0">
                        <a:solidFill>
                          <a:srgbClr val="17303F"/>
                        </a:solidFill>
                        <a:latin typeface="Calibri"/>
                      </a:endParaRPr>
                    </a:p>
                    <a:p>
                      <a:pPr marL="171450" indent="-171450">
                        <a:spcAft>
                          <a:spcPts val="150"/>
                        </a:spcAft>
                        <a:buFont typeface="Arial"/>
                        <a:buChar char="•"/>
                      </a:pPr>
                      <a:r>
                        <a:rPr sz="1050" b="0" dirty="0">
                          <a:solidFill>
                            <a:srgbClr val="17303F"/>
                          </a:solidFill>
                          <a:latin typeface="Calibri"/>
                        </a:rPr>
                        <a:t>Full sound library</a:t>
                      </a:r>
                    </a:p>
                    <a:p>
                      <a:pPr marL="171450" indent="-171450">
                        <a:spcAft>
                          <a:spcPts val="150"/>
                        </a:spcAft>
                        <a:buFont typeface="Arial"/>
                        <a:buChar char="•"/>
                      </a:pPr>
                      <a:r>
                        <a:rPr sz="1050" b="0" dirty="0">
                          <a:solidFill>
                            <a:srgbClr val="17303F"/>
                          </a:solidFill>
                          <a:latin typeface="Calibri"/>
                        </a:rPr>
                        <a:t>Contact notify (prompted SMS)</a:t>
                      </a:r>
                    </a:p>
                    <a:p>
                      <a:pPr marL="171450" indent="-171450">
                        <a:spcAft>
                          <a:spcPts val="150"/>
                        </a:spcAft>
                        <a:buFont typeface="Arial"/>
                        <a:buChar char="•"/>
                      </a:pPr>
                      <a:r>
                        <a:rPr lang="en-US" sz="1050" b="0" dirty="0">
                          <a:solidFill>
                            <a:srgbClr val="17303F"/>
                          </a:solidFill>
                          <a:latin typeface="Calibri"/>
                        </a:rPr>
                        <a:t>Control over alarm a</a:t>
                      </a:r>
                      <a:r>
                        <a:rPr sz="1050" b="0" dirty="0">
                          <a:solidFill>
                            <a:srgbClr val="17303F"/>
                          </a:solidFill>
                          <a:latin typeface="Calibri"/>
                        </a:rPr>
                        <a:t>ctive time windows</a:t>
                      </a:r>
                    </a:p>
                  </a:txBody>
                  <a:tcPr marL="109728" marT="73152" marB="73152" anchor="ctr">
                    <a:solidFill>
                      <a:srgbClr val="EFF2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860000">
                <a:tc>
                  <a:txBody>
                    <a:bodyPr/>
                    <a:lstStyle/>
                    <a:p>
                      <a:pPr>
                        <a:spcAft>
                          <a:spcPts val="200"/>
                        </a:spcAft>
                        <a:defRPr sz="1400" b="1">
                          <a:solidFill>
                            <a:srgbClr val="17303F"/>
                          </a:solidFill>
                          <a:latin typeface="Cambria"/>
                        </a:defRPr>
                      </a:pPr>
                      <a:r>
                        <a:rPr lang="en-US" dirty="0"/>
                        <a:t>Gold</a:t>
                      </a:r>
                      <a:endParaRPr dirty="0"/>
                    </a:p>
                    <a:p>
                      <a:pPr>
                        <a:defRPr sz="1150" b="0">
                          <a:solidFill>
                            <a:srgbClr val="5C7182"/>
                          </a:solidFill>
                          <a:latin typeface="Calibri"/>
                        </a:defRPr>
                      </a:pPr>
                      <a:r>
                        <a:rPr dirty="0"/>
                        <a:t>$6.99 / year</a:t>
                      </a:r>
                    </a:p>
                  </a:txBody>
                  <a:tcPr marL="109728" marT="73152" marB="7315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150"/>
                        </a:spcAft>
                        <a:buNone/>
                      </a:pPr>
                      <a:r>
                        <a:rPr sz="1050" b="1" i="1" dirty="0">
                          <a:solidFill>
                            <a:srgbClr val="5C7182"/>
                          </a:solidFill>
                          <a:latin typeface="Calibri"/>
                        </a:rPr>
                        <a:t>Everything in </a:t>
                      </a:r>
                      <a:r>
                        <a:rPr lang="en-US" sz="1050" b="1" i="1" dirty="0">
                          <a:solidFill>
                            <a:srgbClr val="5C7182"/>
                          </a:solidFill>
                          <a:latin typeface="Calibri"/>
                        </a:rPr>
                        <a:t>Silver</a:t>
                      </a:r>
                      <a:r>
                        <a:rPr sz="1050" b="1" i="1" dirty="0">
                          <a:solidFill>
                            <a:srgbClr val="5C7182"/>
                          </a:solidFill>
                          <a:latin typeface="Calibri"/>
                        </a:rPr>
                        <a:t>, plus:</a:t>
                      </a:r>
                    </a:p>
                    <a:p>
                      <a:pPr marL="171450" indent="-171450">
                        <a:spcAft>
                          <a:spcPts val="150"/>
                        </a:spcAft>
                        <a:buFont typeface="Arial"/>
                        <a:buChar char="•"/>
                      </a:pPr>
                      <a:r>
                        <a:rPr sz="1050" b="0" dirty="0">
                          <a:solidFill>
                            <a:srgbClr val="17303F"/>
                          </a:solidFill>
                          <a:latin typeface="Calibri"/>
                        </a:rPr>
                        <a:t>Time-based alarms</a:t>
                      </a:r>
                    </a:p>
                    <a:p>
                      <a:pPr marL="171450" indent="-171450">
                        <a:spcAft>
                          <a:spcPts val="150"/>
                        </a:spcAft>
                        <a:buFont typeface="Arial"/>
                        <a:buChar char="•"/>
                      </a:pPr>
                      <a:r>
                        <a:rPr sz="1050" b="0" dirty="0">
                          <a:solidFill>
                            <a:srgbClr val="17303F"/>
                          </a:solidFill>
                          <a:latin typeface="Calibri"/>
                        </a:rPr>
                        <a:t>Transit agency integration + caching</a:t>
                      </a:r>
                    </a:p>
                    <a:p>
                      <a:pPr marL="171450" indent="-171450">
                        <a:spcAft>
                          <a:spcPts val="150"/>
                        </a:spcAft>
                        <a:buFont typeface="Arial"/>
                        <a:buChar char="•"/>
                      </a:pPr>
                      <a:r>
                        <a:rPr sz="1050" b="0" dirty="0">
                          <a:solidFill>
                            <a:srgbClr val="17303F"/>
                          </a:solidFill>
                          <a:latin typeface="Calibri"/>
                        </a:rPr>
                        <a:t>Hands-free Auto-SMS / Notify Contacts</a:t>
                      </a:r>
                    </a:p>
                    <a:p>
                      <a:pPr marL="171450" indent="-171450">
                        <a:spcAft>
                          <a:spcPts val="150"/>
                        </a:spcAft>
                        <a:buFont typeface="Arial"/>
                        <a:buChar char="•"/>
                      </a:pPr>
                      <a:r>
                        <a:rPr sz="1050" b="0" dirty="0">
                          <a:solidFill>
                            <a:srgbClr val="17303F"/>
                          </a:solidFill>
                          <a:latin typeface="Calibri"/>
                        </a:rPr>
                        <a:t>Repeat &amp; per-day scheduling</a:t>
                      </a:r>
                    </a:p>
                  </a:txBody>
                  <a:tcPr marL="109728" marT="73152" marB="73152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860000">
                <a:tc>
                  <a:txBody>
                    <a:bodyPr/>
                    <a:lstStyle/>
                    <a:p>
                      <a:pPr>
                        <a:spcAft>
                          <a:spcPts val="200"/>
                        </a:spcAft>
                        <a:defRPr sz="1400" b="1">
                          <a:solidFill>
                            <a:srgbClr val="17303F"/>
                          </a:solidFill>
                          <a:latin typeface="Cambria"/>
                        </a:defRPr>
                      </a:pPr>
                      <a:r>
                        <a:rPr lang="en-US" sz="1400" b="1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Platinum</a:t>
                      </a:r>
                      <a:endParaRPr dirty="0"/>
                    </a:p>
                    <a:p>
                      <a:pPr>
                        <a:defRPr sz="1150" b="0">
                          <a:solidFill>
                            <a:srgbClr val="5C7182"/>
                          </a:solidFill>
                          <a:latin typeface="Calibri"/>
                        </a:defRPr>
                      </a:pPr>
                      <a:r>
                        <a:rPr dirty="0"/>
                        <a:t>$12.99 lifetime</a:t>
                      </a:r>
                    </a:p>
                  </a:txBody>
                  <a:tcPr marL="109728" marT="73152" marB="73152" anchor="ctr">
                    <a:solidFill>
                      <a:srgbClr val="EFF2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150"/>
                        </a:spcAft>
                        <a:buNone/>
                      </a:pPr>
                      <a:r>
                        <a:rPr sz="1050" b="1" i="1" dirty="0">
                          <a:solidFill>
                            <a:srgbClr val="5C7182"/>
                          </a:solidFill>
                          <a:latin typeface="Calibri"/>
                        </a:rPr>
                        <a:t>Everything in </a:t>
                      </a:r>
                      <a:r>
                        <a:rPr lang="en-US" sz="1050" b="1" i="1" dirty="0">
                          <a:solidFill>
                            <a:srgbClr val="5C7182"/>
                          </a:solidFill>
                          <a:latin typeface="Calibri"/>
                        </a:rPr>
                        <a:t>Gold</a:t>
                      </a:r>
                      <a:r>
                        <a:rPr sz="1050" b="1" i="1" dirty="0">
                          <a:solidFill>
                            <a:srgbClr val="5C7182"/>
                          </a:solidFill>
                          <a:latin typeface="Calibri"/>
                        </a:rPr>
                        <a:t>, plus:</a:t>
                      </a:r>
                    </a:p>
                    <a:p>
                      <a:pPr marL="171450" indent="-171450">
                        <a:spcAft>
                          <a:spcPts val="150"/>
                        </a:spcAft>
                        <a:buFont typeface="Arial"/>
                        <a:buChar char="•"/>
                      </a:pPr>
                      <a:r>
                        <a:rPr sz="1050" b="0" dirty="0">
                          <a:solidFill>
                            <a:srgbClr val="17303F"/>
                          </a:solidFill>
                          <a:latin typeface="Calibri"/>
                        </a:rPr>
                        <a:t>Calendar-scan auto-scheduling</a:t>
                      </a:r>
                    </a:p>
                    <a:p>
                      <a:pPr marL="171450" indent="-171450">
                        <a:spcAft>
                          <a:spcPts val="150"/>
                        </a:spcAft>
                        <a:buFont typeface="Arial"/>
                        <a:buChar char="•"/>
                      </a:pPr>
                      <a:r>
                        <a:rPr lang="en-US" sz="1050" b="0" dirty="0">
                          <a:solidFill>
                            <a:srgbClr val="17303F"/>
                          </a:solidFill>
                          <a:latin typeface="Calibri"/>
                        </a:rPr>
                        <a:t>Live alarms, see </a:t>
                      </a:r>
                      <a:r>
                        <a:rPr lang="en-US" sz="1050" dirty="0"/>
                        <a:t>distance/ETA progress tied to your GPS position</a:t>
                      </a:r>
                      <a:endParaRPr sz="1050" b="0" dirty="0">
                        <a:solidFill>
                          <a:srgbClr val="17303F"/>
                        </a:solidFill>
                        <a:latin typeface="Calibri"/>
                      </a:endParaRPr>
                    </a:p>
                    <a:p>
                      <a:pPr marL="171450" indent="-171450">
                        <a:spcAft>
                          <a:spcPts val="150"/>
                        </a:spcAft>
                        <a:buFont typeface="Arial"/>
                        <a:buChar char="•"/>
                      </a:pPr>
                      <a:r>
                        <a:rPr sz="1050" b="0" dirty="0">
                          <a:solidFill>
                            <a:srgbClr val="17303F"/>
                          </a:solidFill>
                          <a:latin typeface="Calibri"/>
                        </a:rPr>
                        <a:t>Priority transit feed support</a:t>
                      </a:r>
                    </a:p>
                    <a:p>
                      <a:pPr marL="171450" indent="-171450">
                        <a:spcAft>
                          <a:spcPts val="150"/>
                        </a:spcAft>
                        <a:buFont typeface="Arial"/>
                        <a:buChar char="•"/>
                      </a:pPr>
                      <a:r>
                        <a:rPr sz="1050" b="0" dirty="0">
                          <a:solidFill>
                            <a:srgbClr val="17303F"/>
                          </a:solidFill>
                          <a:latin typeface="Calibri"/>
                        </a:rPr>
                        <a:t>Full </a:t>
                      </a:r>
                      <a:r>
                        <a:rPr lang="en-US" sz="1050" b="0" dirty="0">
                          <a:solidFill>
                            <a:srgbClr val="17303F"/>
                          </a:solidFill>
                          <a:latin typeface="Calibri"/>
                        </a:rPr>
                        <a:t>integration support with other Apps  that support </a:t>
                      </a:r>
                      <a:r>
                        <a:rPr sz="1050" b="0" dirty="0">
                          <a:solidFill>
                            <a:srgbClr val="17303F"/>
                          </a:solidFill>
                          <a:latin typeface="Calibri"/>
                        </a:rPr>
                        <a:t>Shortcuts</a:t>
                      </a:r>
                      <a:r>
                        <a:rPr lang="en-US" sz="1050" b="0" dirty="0">
                          <a:solidFill>
                            <a:srgbClr val="17303F"/>
                          </a:solidFill>
                          <a:latin typeface="Calibri"/>
                        </a:rPr>
                        <a:t> </a:t>
                      </a:r>
                      <a:r>
                        <a:rPr sz="1050" b="0" dirty="0">
                          <a:solidFill>
                            <a:srgbClr val="17303F"/>
                          </a:solidFill>
                          <a:latin typeface="Calibri"/>
                        </a:rPr>
                        <a:t>+ enhanced Dead Reckoning</a:t>
                      </a:r>
                      <a:r>
                        <a:rPr lang="en-US" sz="1050" b="0" dirty="0">
                          <a:solidFill>
                            <a:srgbClr val="17303F"/>
                          </a:solidFill>
                          <a:latin typeface="Calibri"/>
                        </a:rPr>
                        <a:t> for Time-based alarms.</a:t>
                      </a:r>
                      <a:endParaRPr sz="1050" b="0" dirty="0">
                        <a:solidFill>
                          <a:srgbClr val="17303F"/>
                        </a:solidFill>
                        <a:latin typeface="Calibri"/>
                      </a:endParaRPr>
                    </a:p>
                    <a:p>
                      <a:pPr marL="171450" indent="-171450">
                        <a:spcAft>
                          <a:spcPts val="150"/>
                        </a:spcAft>
                        <a:buFont typeface="Arial"/>
                        <a:buChar char="•"/>
                      </a:pPr>
                      <a:r>
                        <a:rPr sz="1050" b="0" dirty="0">
                          <a:solidFill>
                            <a:srgbClr val="17303F"/>
                          </a:solidFill>
                          <a:latin typeface="Calibri"/>
                        </a:rPr>
                        <a:t>Family Sharing included — one purchase covers your whole family</a:t>
                      </a:r>
                    </a:p>
                  </a:txBody>
                  <a:tcPr marL="109728" marT="73152" marB="73152" anchor="ctr">
                    <a:solidFill>
                      <a:srgbClr val="EFF2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9944100" y="6199631"/>
            <a:ext cx="1698955" cy="16927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0" i="0" dirty="0">
                <a:solidFill>
                  <a:srgbClr val="5C7182"/>
                </a:solidFill>
                <a:latin typeface="Calibri"/>
              </a:rPr>
              <a:t>Prices shown in USD. 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1323015" y="6025896"/>
            <a:ext cx="603504" cy="603504"/>
          </a:xfrm>
          <a:prstGeom prst="roundRect">
            <a:avLst>
              <a:gd name="adj" fmla="val 32000"/>
            </a:avLst>
          </a:prstGeom>
          <a:solidFill>
            <a:srgbClr val="FFFFFF"/>
          </a:solidFill>
          <a:ln>
            <a:noFill/>
          </a:ln>
          <a:effectLst>
            <a:outerShdw blurRad="90000" dist="30000" dir="5400000" rotWithShape="0">
              <a:srgbClr val="0F2836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7" name="Picture 6" descr="app_icon_roun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368735" y="6071616"/>
            <a:ext cx="512064" cy="512064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502920" y="6455664"/>
            <a:ext cx="45720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0" i="0">
                <a:solidFill>
                  <a:srgbClr val="5C7182"/>
                </a:solidFill>
                <a:latin typeface="Calibri"/>
              </a:rPr>
              <a:t>GeoNap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3A5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app_icon_roun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10047" y="685800"/>
            <a:ext cx="1371600" cy="13716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97280" y="2514600"/>
            <a:ext cx="9997135" cy="10058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3200" b="1" i="0">
                <a:solidFill>
                  <a:srgbClr val="FFFFFF"/>
                </a:solidFill>
                <a:latin typeface="Cambria"/>
              </a:rPr>
              <a:t>Never Miss Your Stop Again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645920" y="3429000"/>
            <a:ext cx="8899855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25000"/>
              </a:lnSpc>
            </a:pPr>
            <a:r>
              <a:rPr sz="1550" b="0" i="0">
                <a:solidFill>
                  <a:srgbClr val="B9C6CE"/>
                </a:solidFill>
                <a:latin typeface="Calibri"/>
              </a:rPr>
              <a:t>Set your first location alarm in under a minute — and nap the whole way there.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358487" y="4434840"/>
            <a:ext cx="3474720" cy="566928"/>
          </a:xfrm>
          <a:prstGeom prst="roundRect">
            <a:avLst>
              <a:gd name="adj" fmla="val 50000"/>
            </a:avLst>
          </a:prstGeom>
          <a:solidFill>
            <a:srgbClr val="E828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4358487" y="4610582"/>
            <a:ext cx="3474720" cy="2154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lang="en-US" sz="1400" b="1" i="0" dirty="0">
                <a:solidFill>
                  <a:srgbClr val="FFFFFF"/>
                </a:solidFill>
                <a:latin typeface="Calibri"/>
                <a:hlinkClick r:id="rId3"/>
              </a:rPr>
              <a:t>Download GeoNap (iOS device)</a:t>
            </a:r>
            <a:r>
              <a:rPr lang="en-US" sz="1400" b="1" i="0" dirty="0">
                <a:solidFill>
                  <a:srgbClr val="FFFFFF"/>
                </a:solidFill>
                <a:latin typeface="Calibri"/>
              </a:rPr>
              <a:t> **</a:t>
            </a:r>
            <a:endParaRPr sz="1400" b="1" i="0" dirty="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7815AFA-D1BA-67B5-F575-FB3E5A233B36}"/>
              </a:ext>
            </a:extLst>
          </p:cNvPr>
          <p:cNvSpPr txBox="1"/>
          <p:nvPr/>
        </p:nvSpPr>
        <p:spPr>
          <a:xfrm>
            <a:off x="6229349" y="5570220"/>
            <a:ext cx="5702139" cy="998350"/>
          </a:xfrm>
          <a:prstGeom prst="rect">
            <a:avLst/>
          </a:prstGeom>
          <a:gradFill flip="none" rotWithShape="1">
            <a:gsLst>
              <a:gs pos="0">
                <a:schemeClr val="accent1">
                  <a:lumMod val="5000"/>
                  <a:lumOff val="95000"/>
                </a:schemeClr>
              </a:gs>
              <a:gs pos="74000">
                <a:schemeClr val="accent1">
                  <a:lumMod val="45000"/>
                  <a:lumOff val="55000"/>
                </a:schemeClr>
              </a:gs>
              <a:gs pos="83000">
                <a:schemeClr val="accent1">
                  <a:lumMod val="45000"/>
                  <a:lumOff val="55000"/>
                </a:schemeClr>
              </a:gs>
              <a:gs pos="100000">
                <a:schemeClr val="accent1">
                  <a:lumMod val="30000"/>
                  <a:lumOff val="70000"/>
                </a:schemeClr>
              </a:gs>
            </a:gsLst>
            <a:lin ang="5400000" scaled="1"/>
            <a:tileRect/>
          </a:gradFill>
        </p:spPr>
        <p:txBody>
          <a:bodyPr wrap="square" lIns="91440" tIns="91440" rIns="91440" bIns="91440" anchor="t">
            <a:spAutoFit/>
          </a:bodyPr>
          <a:lstStyle/>
          <a:p>
            <a:pPr algn="r">
              <a:lnSpc>
                <a:spcPct val="120000"/>
              </a:lnSpc>
            </a:pPr>
            <a:r>
              <a:rPr lang="en-US" sz="1700" b="0" i="0" dirty="0">
                <a:latin typeface="Calibri"/>
              </a:rPr>
              <a:t>** </a:t>
            </a:r>
            <a:r>
              <a:rPr lang="en-US" sz="1400" b="0" i="0" dirty="0" err="1">
                <a:latin typeface="Calibri"/>
              </a:rPr>
              <a:t>GeoNap</a:t>
            </a:r>
            <a:r>
              <a:rPr lang="en-US" sz="1400" b="0" i="0" dirty="0">
                <a:latin typeface="Calibri"/>
              </a:rPr>
              <a:t> is available in test mode only. As such, Apple requires installation of an app </a:t>
            </a:r>
            <a:r>
              <a:rPr lang="en-US" sz="1400" b="0" i="0" dirty="0">
                <a:solidFill>
                  <a:srgbClr val="0070C0"/>
                </a:solidFill>
                <a:latin typeface="Calibri"/>
                <a:hlinkClick r:id="rId4"/>
              </a:rPr>
              <a:t>“TestFlight” </a:t>
            </a:r>
            <a:r>
              <a:rPr lang="en-US" sz="1400" b="0" i="0" dirty="0">
                <a:latin typeface="Calibri"/>
              </a:rPr>
              <a:t>on their local iOS device. </a:t>
            </a:r>
            <a:r>
              <a:rPr lang="en-US" sz="1400" b="0" i="0" dirty="0" err="1">
                <a:latin typeface="Calibri"/>
              </a:rPr>
              <a:t>GeoNap</a:t>
            </a:r>
            <a:r>
              <a:rPr lang="en-US" sz="1400" b="0" i="0" dirty="0">
                <a:latin typeface="Calibri"/>
              </a:rPr>
              <a:t> installation, upgrades and feedback is done using the TestFlight application.</a:t>
            </a:r>
            <a:endParaRPr sz="1700" b="0" i="0" dirty="0">
              <a:latin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181</TotalTime>
  <Words>1688</Words>
  <Application>Microsoft Macintosh PowerPoint</Application>
  <PresentationFormat>Widescreen</PresentationFormat>
  <Paragraphs>185</Paragraphs>
  <Slides>19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3" baseType="lpstr">
      <vt:lpstr>Arial</vt:lpstr>
      <vt:lpstr>Calibri</vt:lpstr>
      <vt:lpstr>Cambria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Robert Bartis</cp:lastModifiedBy>
  <cp:revision>15</cp:revision>
  <dcterms:created xsi:type="dcterms:W3CDTF">2013-01-27T09:14:16Z</dcterms:created>
  <dcterms:modified xsi:type="dcterms:W3CDTF">2026-09-16T15:01:53Z</dcterms:modified>
  <cp:category/>
</cp:coreProperties>
</file>